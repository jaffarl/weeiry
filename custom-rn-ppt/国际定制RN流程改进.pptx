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1619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CFE9F8"/>
                </a:solidFill>
                <a:latin typeface="Microsoft YaHei"/>
                <a:ea typeface="Microsoft YaHei"/>
              </a:rPr>
              <a:t>CCN文档团队 · 改进专项汇报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95500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37"/>
              </a:lnSpc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</a:rPr>
              <a:t>国际定制RN</a:t>
            </a:r>
          </a:p>
          <a:p>
            <a:pPr algn="l">
              <a:lnSpc>
                <a:spcPts val="5437"/>
              </a:lnSpc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</a:rPr>
              <a:t>流程改进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857625"/>
            <a:ext cx="762000" cy="47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4095750"/>
            <a:ext cx="6096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</a:rPr>
              <a:t>搭车主业务，打通需求断链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0">
                <a:solidFill>
                  <a:srgbClr val="CFE9F8"/>
                </a:solidFill>
                <a:latin typeface="Microsoft YaHei"/>
                <a:ea typeface="Microsoft YaHei"/>
              </a:rPr>
              <a:t>2026年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0" y="104775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05B8F"/>
                </a:solidFill>
                <a:latin typeface="Microsoft YaHei"/>
                <a:ea typeface="Microsoft YaHei"/>
              </a:rPr>
              <a:t>定制RN需求的贯通之路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2000" y="2286000"/>
            <a:ext cx="0" cy="361950"/>
          </a:xfrm>
          <a:prstGeom prst="line">
            <a:avLst/>
          </a:prstGeom>
          <a:ln w="28575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12" name="Oval 11"/>
          <p:cNvSpPr/>
          <p:nvPr/>
        </p:nvSpPr>
        <p:spPr>
          <a:xfrm>
            <a:off x="8001000" y="1524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01000" y="1524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iDOP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0" y="17145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</a:rPr>
              <a:t>升级方案申请时勾选需求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82000" y="3429000"/>
            <a:ext cx="0" cy="361950"/>
          </a:xfrm>
          <a:prstGeom prst="line">
            <a:avLst/>
          </a:prstGeom>
          <a:ln w="28575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8001000" y="2667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01000" y="2667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RDC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0" y="28575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</a:rPr>
              <a:t>自动建单、同步字段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82000" y="4572000"/>
            <a:ext cx="0" cy="361950"/>
          </a:xfrm>
          <a:prstGeom prst="line">
            <a:avLst/>
          </a:prstGeom>
          <a:ln w="28575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20" name="Oval 19"/>
          <p:cNvSpPr/>
          <p:nvPr/>
        </p:nvSpPr>
        <p:spPr>
          <a:xfrm>
            <a:off x="8001000" y="3810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3810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飞轮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0" y="40005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</a:rPr>
              <a:t>驱动工作项状态流转</a:t>
            </a:r>
          </a:p>
        </p:txBody>
      </p:sp>
      <p:sp>
        <p:nvSpPr>
          <p:cNvPr id="23" name="Oval 22"/>
          <p:cNvSpPr/>
          <p:nvPr/>
        </p:nvSpPr>
        <p:spPr>
          <a:xfrm>
            <a:off x="8001000" y="4953000"/>
            <a:ext cx="762000" cy="76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001000" y="4953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0" y="51435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</a:rPr>
              <a:t>校验 + 邮件通知闭环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目录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6" name="TextBox 5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43000"/>
            <a:ext cx="11049000" cy="533400"/>
          </a:xfrm>
          <a:prstGeom prst="roundRect">
            <a:avLst>
              <a:gd name="adj" fmla="val 1428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0100" y="1143000"/>
            <a:ext cx="106680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7B8794"/>
                </a:solidFill>
                <a:latin typeface="Microsoft YaHei"/>
                <a:ea typeface="Microsoft YaHei"/>
              </a:rPr>
              <a:t>00  前言</a:t>
            </a:r>
            <a:r>
              <a:rPr sz="1275" b="0">
                <a:solidFill>
                  <a:srgbClr val="4F5F6F"/>
                </a:solidFill>
                <a:latin typeface="Microsoft YaHei"/>
                <a:ea typeface="Microsoft YaHei"/>
              </a:rPr>
              <a:t>    先统一语言：RN的内容边界与“两个分身”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952625"/>
            <a:ext cx="2571750" cy="31432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71500" y="1952625"/>
            <a:ext cx="2571750" cy="76200"/>
          </a:xfrm>
          <a:prstGeom prst="rect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8200" y="2286000"/>
            <a:ext cx="2095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200" b="1">
                <a:solidFill>
                  <a:srgbClr val="D9483B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956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>
                <a:solidFill>
                  <a:srgbClr val="0B3A5B"/>
                </a:solidFill>
                <a:latin typeface="Microsoft YaHei"/>
                <a:ea typeface="Microsoft YaHei"/>
              </a:rPr>
              <a:t>痛点问题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" y="3600450"/>
            <a:ext cx="381000" cy="28575"/>
          </a:xfrm>
          <a:prstGeom prst="rect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200" y="3810000"/>
            <a:ext cx="2095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7640" indent="-167640">
              <a:lnSpc>
                <a:spcPts val="1679"/>
              </a:lnSpc>
              <a:buClr>
                <a:srgbClr val="D9483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国内已理顺，国际日益突出</a:t>
            </a:r>
          </a:p>
          <a:p>
            <a:pPr algn="l" marL="167640" indent="-167640">
              <a:lnSpc>
                <a:spcPts val="1679"/>
              </a:lnSpc>
              <a:spcBef>
                <a:spcPts val="750"/>
              </a:spcBef>
              <a:buClr>
                <a:srgbClr val="D9483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国际四大痛点</a:t>
            </a:r>
          </a:p>
        </p:txBody>
      </p:sp>
      <p:sp>
        <p:nvSpPr>
          <p:cNvPr id="16" name="Freeform 15"/>
          <p:cNvSpPr/>
          <p:nvPr/>
        </p:nvSpPr>
        <p:spPr>
          <a:xfrm>
            <a:off x="3200400" y="342900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D3E2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381375" y="1952625"/>
            <a:ext cx="2571750" cy="31432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381375" y="1952625"/>
            <a:ext cx="2571750" cy="76200"/>
          </a:xfrm>
          <a:prstGeom prst="rect">
            <a:avLst/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48075" y="2286000"/>
            <a:ext cx="2095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200" b="1">
                <a:solidFill>
                  <a:srgbClr val="E8892B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075" y="30956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>
                <a:solidFill>
                  <a:srgbClr val="0B3A5B"/>
                </a:solidFill>
                <a:latin typeface="Microsoft YaHei"/>
                <a:ea typeface="Microsoft YaHei"/>
              </a:rPr>
              <a:t>原因分析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8075" y="3600450"/>
            <a:ext cx="381000" cy="28575"/>
          </a:xfrm>
          <a:prstGeom prst="rect">
            <a:avLst/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48075" y="3810000"/>
            <a:ext cx="2095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7640" indent="-167640">
              <a:lnSpc>
                <a:spcPts val="1679"/>
              </a:lnSpc>
              <a:buClr>
                <a:srgbClr val="E8892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三年改进历程复盘</a:t>
            </a:r>
          </a:p>
          <a:p>
            <a:pPr algn="l" marL="167640" indent="-167640">
              <a:lnSpc>
                <a:spcPts val="1679"/>
              </a:lnSpc>
              <a:spcBef>
                <a:spcPts val="750"/>
              </a:spcBef>
              <a:buClr>
                <a:srgbClr val="E8892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根因：难在触发，断在传递</a:t>
            </a:r>
          </a:p>
        </p:txBody>
      </p:sp>
      <p:sp>
        <p:nvSpPr>
          <p:cNvPr id="23" name="Freeform 22"/>
          <p:cNvSpPr/>
          <p:nvPr/>
        </p:nvSpPr>
        <p:spPr>
          <a:xfrm>
            <a:off x="6010275" y="342900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D3E2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191250" y="1952625"/>
            <a:ext cx="2571750" cy="31432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91250" y="1952625"/>
            <a:ext cx="2571750" cy="762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57950" y="2286000"/>
            <a:ext cx="2095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200" b="1">
                <a:solidFill>
                  <a:srgbClr val="0085C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7950" y="30956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>
                <a:solidFill>
                  <a:srgbClr val="0B3A5B"/>
                </a:solidFill>
                <a:latin typeface="Microsoft YaHei"/>
                <a:ea typeface="Microsoft YaHei"/>
              </a:rPr>
              <a:t>解决方案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57950" y="3600450"/>
            <a:ext cx="381000" cy="28575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57950" y="3810000"/>
            <a:ext cx="2095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7640" indent="-167640">
              <a:lnSpc>
                <a:spcPts val="1679"/>
              </a:lnSpc>
              <a:buClr>
                <a:srgbClr val="0085CC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“搭车”主业务场景</a:t>
            </a:r>
          </a:p>
          <a:p>
            <a:pPr algn="l" marL="167640" indent="-167640">
              <a:lnSpc>
                <a:spcPts val="1679"/>
              </a:lnSpc>
              <a:spcBef>
                <a:spcPts val="750"/>
              </a:spcBef>
              <a:buClr>
                <a:srgbClr val="0085CC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端到端流程与关键设计</a:t>
            </a:r>
          </a:p>
          <a:p>
            <a:pPr algn="l" marL="167640" indent="-167640">
              <a:lnSpc>
                <a:spcPts val="1679"/>
              </a:lnSpc>
              <a:spcBef>
                <a:spcPts val="750"/>
              </a:spcBef>
              <a:buClr>
                <a:srgbClr val="0085CC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工具链落地进展</a:t>
            </a:r>
          </a:p>
        </p:txBody>
      </p:sp>
      <p:sp>
        <p:nvSpPr>
          <p:cNvPr id="30" name="Freeform 29"/>
          <p:cNvSpPr/>
          <p:nvPr/>
        </p:nvSpPr>
        <p:spPr>
          <a:xfrm>
            <a:off x="8820150" y="3429000"/>
            <a:ext cx="133350" cy="190500"/>
          </a:xfrm>
          <a:custGeom>
            <a:avLst/>
            <a:gdLst/>
            <a:ahLst/>
            <a:cxnLst/>
            <a:rect l="l" t="t" r="r" b="b"/>
            <a:pathLst>
              <a:path w="133350" h="190500">
                <a:moveTo>
                  <a:pt x="0" y="0"/>
                </a:moveTo>
                <a:lnTo>
                  <a:pt x="13335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D3E2E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9001125" y="1952625"/>
            <a:ext cx="2571750" cy="3143250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001125" y="1952625"/>
            <a:ext cx="2571750" cy="76200"/>
          </a:xfrm>
          <a:prstGeom prst="rect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67825" y="2286000"/>
            <a:ext cx="209550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20"/>
              </a:lnSpc>
            </a:pPr>
            <a:r>
              <a:rPr sz="4200" b="1">
                <a:solidFill>
                  <a:srgbClr val="1F9D6B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825" y="3095625"/>
            <a:ext cx="2095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>
                <a:solidFill>
                  <a:srgbClr val="0B3A5B"/>
                </a:solidFill>
                <a:latin typeface="Microsoft YaHei"/>
                <a:ea typeface="Microsoft YaHei"/>
              </a:rPr>
              <a:t>成果收益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67825" y="3600450"/>
            <a:ext cx="381000" cy="28575"/>
          </a:xfrm>
          <a:prstGeom prst="rect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67825" y="3810000"/>
            <a:ext cx="2095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7640" indent="-167640">
              <a:lnSpc>
                <a:spcPts val="1679"/>
              </a:lnSpc>
              <a:buClr>
                <a:srgbClr val="1F9D6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阶段成果与预期收益</a:t>
            </a:r>
          </a:p>
          <a:p>
            <a:pPr algn="l" marL="167640" indent="-167640">
              <a:lnSpc>
                <a:spcPts val="1679"/>
              </a:lnSpc>
              <a:spcBef>
                <a:spcPts val="750"/>
              </a:spcBef>
              <a:buClr>
                <a:srgbClr val="1F9D6B"/>
              </a:buClr>
              <a:buFont typeface="Arial"/>
              <a:buChar char="•"/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未来规划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5334000"/>
            <a:ext cx="11049000" cy="952500"/>
          </a:xfrm>
          <a:prstGeom prst="roundRect">
            <a:avLst>
              <a:gd name="adj" fmla="val 10000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71500" y="5334000"/>
            <a:ext cx="57150" cy="9525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57250" y="5334000"/>
            <a:ext cx="10572750" cy="952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76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一句话概述：</a:t>
            </a:r>
            <a:r>
              <a:rPr sz="1275" b="0">
                <a:solidFill>
                  <a:srgbClr val="1F2D3D"/>
                </a:solidFill>
                <a:latin typeface="Microsoft YaHei"/>
                <a:ea typeface="Microsoft YaHei"/>
              </a:rPr>
              <a:t>三年改进发现，定制RN的核心困难在于需求触发；通过“搭车”iDOP升级主流程 + 工具链系统贯通，实现定制RN需求从触发、传递到交付的端到端闭环。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RN的内容边界：本版本到底要说多少？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7B8794"/>
                </a:solidFill>
                <a:latin typeface="Microsoft YaHei"/>
                <a:ea typeface="Microsoft YaHei"/>
              </a:rPr>
              <a:t>前言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RN即Release Notes（版本发布说明），是产品版本发布的“贴身说明书”。版本持续迭代N年，发布内容的边界如何划定？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3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285875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1500" y="1285875"/>
            <a:ext cx="3524250" cy="914400"/>
          </a:xfrm>
          <a:prstGeom prst="roundRect">
            <a:avLst>
              <a:gd name="adj" fmla="val 10416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71500" y="1905000"/>
            <a:ext cx="3524250" cy="295275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" y="1400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>
                <a:solidFill>
                  <a:srgbClr val="7B8794"/>
                </a:solidFill>
                <a:latin typeface="Microsoft YaHei"/>
                <a:ea typeface="Microsoft YaHei"/>
              </a:rPr>
              <a:t>方案A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1666875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1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从产品诞生至今的所有变更</a:t>
            </a:r>
          </a:p>
        </p:txBody>
      </p:sp>
      <p:sp>
        <p:nvSpPr>
          <p:cNvPr id="16" name="Oval 15"/>
          <p:cNvSpPr/>
          <p:nvPr/>
        </p:nvSpPr>
        <p:spPr>
          <a:xfrm>
            <a:off x="790575" y="2371725"/>
            <a:ext cx="247650" cy="2476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867728" y="2448878"/>
            <a:ext cx="93344" cy="93344"/>
          </a:xfrm>
          <a:prstGeom prst="line">
            <a:avLst/>
          </a:prstGeom>
          <a:ln w="24765">
            <a:solidFill>
              <a:srgbClr val="FFFFFF"/>
            </a:solidFill>
            <a:round/>
          </a:ln>
        </p:spPr>
      </p:cxnSp>
      <p:cxnSp>
        <p:nvCxnSpPr>
          <p:cNvPr id="18" name="Connector 17"/>
          <p:cNvCxnSpPr/>
          <p:nvPr/>
        </p:nvCxnSpPr>
        <p:spPr>
          <a:xfrm flipV="1">
            <a:off x="867728" y="2448878"/>
            <a:ext cx="93344" cy="93344"/>
          </a:xfrm>
          <a:prstGeom prst="line">
            <a:avLst/>
          </a:prstGeom>
          <a:ln w="24765">
            <a:solidFill>
              <a:srgbClr val="FFFFFF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1123950" y="236220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D9483B"/>
                </a:solidFill>
                <a:latin typeface="Microsoft YaHei"/>
                <a:ea typeface="Microsoft YaHei"/>
              </a:rPr>
              <a:t>不采用 · 全量流水账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2781300"/>
            <a:ext cx="3095625" cy="121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7162" indent="-157162">
              <a:lnSpc>
                <a:spcPts val="1575"/>
              </a:lnSpc>
              <a:buClr>
                <a:srgbClr val="7B8794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小体量产品“小而美”，可行</a:t>
            </a:r>
          </a:p>
          <a:p>
            <a:pPr algn="l" marL="157162" indent="-157162">
              <a:lnSpc>
                <a:spcPts val="1575"/>
              </a:lnSpc>
              <a:spcBef>
                <a:spcPts val="600"/>
              </a:spcBef>
              <a:buClr>
                <a:srgbClr val="7B8794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核心网all in one全融合产品体量大、历史久，滚雪球后维护和阅读体验都很差，通常不出此类RN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6250" y="1285875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4286250" y="1285875"/>
            <a:ext cx="3524250" cy="914400"/>
          </a:xfrm>
          <a:prstGeom prst="roundRect">
            <a:avLst>
              <a:gd name="adj" fmla="val 10416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286250" y="1905000"/>
            <a:ext cx="3524250" cy="295275"/>
          </a:xfrm>
          <a:prstGeom prst="rect">
            <a:avLst/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14850" y="1400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方案B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850" y="1666875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1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基于上一个发布版本的更新</a:t>
            </a:r>
          </a:p>
        </p:txBody>
      </p:sp>
      <p:sp>
        <p:nvSpPr>
          <p:cNvPr id="26" name="Oval 25"/>
          <p:cNvSpPr/>
          <p:nvPr/>
        </p:nvSpPr>
        <p:spPr>
          <a:xfrm>
            <a:off x="4505325" y="2371725"/>
            <a:ext cx="247650" cy="24765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Freeform 26"/>
          <p:cNvSpPr/>
          <p:nvPr/>
        </p:nvSpPr>
        <p:spPr>
          <a:xfrm>
            <a:off x="4572952" y="2451735"/>
            <a:ext cx="118110" cy="90487"/>
          </a:xfrm>
          <a:custGeom>
            <a:avLst/>
            <a:gdLst/>
            <a:ahLst/>
            <a:cxnLst/>
            <a:rect l="l" t="t" r="r" b="b"/>
            <a:pathLst>
              <a:path w="118110" h="90487">
                <a:moveTo>
                  <a:pt x="0" y="43815"/>
                </a:moveTo>
                <a:lnTo>
                  <a:pt x="43816" y="90487"/>
                </a:lnTo>
                <a:lnTo>
                  <a:pt x="118110" y="0"/>
                </a:lnTo>
              </a:path>
            </a:pathLst>
          </a:custGeom>
          <a:noFill/>
          <a:ln w="24765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8700" y="236220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0085CC"/>
                </a:solidFill>
                <a:latin typeface="Microsoft YaHei"/>
                <a:ea typeface="Microsoft YaHei"/>
              </a:rPr>
              <a:t>采用 → 通用RN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4850" y="2781300"/>
            <a:ext cx="3095625" cy="121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7162" indent="-157162">
              <a:lnSpc>
                <a:spcPts val="1575"/>
              </a:lnSpc>
              <a:buClr>
                <a:srgbClr val="0085CC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随版本发布、打包在版本包中</a:t>
            </a:r>
          </a:p>
          <a:p>
            <a:pPr algn="l" marL="157162" indent="-157162">
              <a:lnSpc>
                <a:spcPts val="1575"/>
              </a:lnSpc>
              <a:spcBef>
                <a:spcPts val="600"/>
              </a:spcBef>
              <a:buClr>
                <a:srgbClr val="0085CC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研发负责输出，作为版本发布必要条件纳入配置管理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1285875"/>
            <a:ext cx="352425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001000" y="1285875"/>
            <a:ext cx="3524250" cy="914400"/>
          </a:xfrm>
          <a:prstGeom prst="roundRect">
            <a:avLst>
              <a:gd name="adj" fmla="val 10416"/>
            </a:avLst>
          </a:prstGeom>
          <a:solidFill>
            <a:srgbClr val="E2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001000" y="1905000"/>
            <a:ext cx="3524250" cy="295275"/>
          </a:xfrm>
          <a:prstGeom prst="rect">
            <a:avLst/>
          </a:prstGeom>
          <a:solidFill>
            <a:srgbClr val="E2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0" y="1400175"/>
            <a:ext cx="3048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>
                <a:solidFill>
                  <a:srgbClr val="0FA3A3"/>
                </a:solidFill>
                <a:latin typeface="Microsoft YaHei"/>
                <a:ea typeface="Microsoft YaHei"/>
              </a:rPr>
              <a:t>方案C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666875"/>
            <a:ext cx="30480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1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客户关注的内容</a:t>
            </a:r>
          </a:p>
        </p:txBody>
      </p:sp>
      <p:sp>
        <p:nvSpPr>
          <p:cNvPr id="35" name="Oval 34"/>
          <p:cNvSpPr/>
          <p:nvPr/>
        </p:nvSpPr>
        <p:spPr>
          <a:xfrm>
            <a:off x="8220075" y="2371725"/>
            <a:ext cx="247650" cy="24765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Freeform 35"/>
          <p:cNvSpPr/>
          <p:nvPr/>
        </p:nvSpPr>
        <p:spPr>
          <a:xfrm>
            <a:off x="8287702" y="2451735"/>
            <a:ext cx="118110" cy="90487"/>
          </a:xfrm>
          <a:custGeom>
            <a:avLst/>
            <a:gdLst/>
            <a:ahLst/>
            <a:cxnLst/>
            <a:rect l="l" t="t" r="r" b="b"/>
            <a:pathLst>
              <a:path w="118110" h="90487">
                <a:moveTo>
                  <a:pt x="0" y="43815"/>
                </a:moveTo>
                <a:lnTo>
                  <a:pt x="43816" y="90487"/>
                </a:lnTo>
                <a:lnTo>
                  <a:pt x="118110" y="0"/>
                </a:lnTo>
              </a:path>
            </a:pathLst>
          </a:custGeom>
          <a:noFill/>
          <a:ln w="24765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3450" y="2362200"/>
            <a:ext cx="2762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0FA3A3"/>
                </a:solidFill>
                <a:latin typeface="Microsoft YaHei"/>
                <a:ea typeface="Microsoft YaHei"/>
              </a:rPr>
              <a:t>采用 → 定制RN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781300"/>
            <a:ext cx="3095625" cy="121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57162" indent="-157162">
              <a:lnSpc>
                <a:spcPts val="1575"/>
              </a:lnSpc>
              <a:buClr>
                <a:srgbClr val="0FA3A3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需求产生于版本升级场景</a:t>
            </a:r>
          </a:p>
          <a:p>
            <a:pPr algn="l" marL="157162" indent="-157162">
              <a:lnSpc>
                <a:spcPts val="1575"/>
              </a:lnSpc>
              <a:spcBef>
                <a:spcPts val="600"/>
              </a:spcBef>
              <a:buClr>
                <a:srgbClr val="0FA3A3"/>
              </a:buClr>
              <a:buFont typeface="Arial"/>
              <a:buChar char="•"/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不同客户关注点不同、现网升级梯度不同，必须量身定制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" y="4238625"/>
            <a:ext cx="11049000" cy="2171700"/>
          </a:xfrm>
          <a:prstGeom prst="roundRect">
            <a:avLst>
              <a:gd name="adj" fmla="val 4385"/>
            </a:avLst>
          </a:prstGeom>
          <a:solidFill>
            <a:srgbClr val="E2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0100" y="4381500"/>
            <a:ext cx="5715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FA3A3"/>
                </a:solidFill>
                <a:latin typeface="Microsoft YaHei"/>
                <a:ea typeface="Microsoft YaHei"/>
              </a:rPr>
              <a:t>为什么必须定制？升级场景下客户的两个疑问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" y="4762500"/>
            <a:ext cx="51816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1550" y="4895850"/>
            <a:ext cx="48577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Q1  为什么要升级？本次升级给我带来哪些业务价值？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1550" y="5429250"/>
            <a:ext cx="342900" cy="28575"/>
          </a:xfrm>
          <a:prstGeom prst="rect">
            <a:avLst/>
          </a:pr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71550" y="55435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需了解：客户关注的业务价值点——市场承诺的新业务？还是需要解决的版本漏洞？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0300" y="4762500"/>
            <a:ext cx="51816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81750" y="4895850"/>
            <a:ext cx="48577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4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Q2  新版本和我的上一个版本有哪些差别？新在哪里？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81750" y="5429250"/>
            <a:ext cx="342900" cy="28575"/>
          </a:xfrm>
          <a:prstGeom prst="rect">
            <a:avLst/>
          </a:pr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81750" y="5543550"/>
            <a:ext cx="485775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需了解：客户的上一个版本是什么？涉及几个发布版本梯度？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先统一语言：RN的两个分身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7B8794"/>
                </a:solidFill>
                <a:latin typeface="Microsoft YaHei"/>
                <a:ea typeface="Microsoft YaHei"/>
              </a:rPr>
              <a:t>前言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通用RN回答“版本变了什么”，定制RN回答“这次升级对我意味着什么”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4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1238250"/>
            <a:ext cx="4657725" cy="533400"/>
          </a:xfrm>
          <a:prstGeom prst="roundRect">
            <a:avLst>
              <a:gd name="adj" fmla="val 14285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905625" y="1238250"/>
            <a:ext cx="4714875" cy="533400"/>
          </a:xfrm>
          <a:prstGeom prst="roundRect">
            <a:avLst>
              <a:gd name="adj" fmla="val 14285"/>
            </a:avLst>
          </a:pr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190750" y="1238250"/>
            <a:ext cx="4657725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通用RN  ·  随版本发布的迭代变更RN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5" y="1238250"/>
            <a:ext cx="4714875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定制RN  ·  按客户需求定制的RN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885950"/>
            <a:ext cx="11049000" cy="74295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3900" y="188595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188595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版本发布的迭代变更说明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6125" y="188595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按客户需求量身定制的版本说明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2628900"/>
            <a:ext cx="11049000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23900" y="262890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内容基线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1250" y="262890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基于上一个发布版本的更新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6125" y="262890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客户现网版本 → 目标版本，可能跨越多个发布梯度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3371850"/>
            <a:ext cx="11049000" cy="74295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23900" y="337185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文档属性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0" y="337185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研发交付的产品文档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6125" y="337185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现场交付的工程文档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114800"/>
            <a:ext cx="11049000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3900" y="411480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责任归属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1250" y="411480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研发负责输出，纳入配置管理，作为版本发布必要条件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96125" y="411480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需求驱动编制（后方承诺承接编制任务）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4857750"/>
            <a:ext cx="11049000" cy="74295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3900" y="485775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获取渠道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81250" y="485775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直接从Support获取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6125" y="485775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需提交需求，通过需求传递渠道获取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5600700"/>
            <a:ext cx="11049000" cy="742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23900" y="5600700"/>
            <a:ext cx="13906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适用边界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1250" y="5600700"/>
            <a:ext cx="427672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无市场差异性处理，未经市场和交付干系人审核，不能直接提供给客户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6125" y="5600700"/>
            <a:ext cx="4333875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7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聚焦客户关注的业务价值点与版本差异，直接服务升级沟通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1500" y="634365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痛点全景：国内已理顺，国际问题日益突出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D9483B"/>
                </a:solidFill>
                <a:latin typeface="Microsoft YaHei"/>
                <a:ea typeface="Microsoft YaHei"/>
              </a:rPr>
              <a:t>01 痛点问题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5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90625"/>
            <a:ext cx="2762250" cy="2333625"/>
          </a:xfrm>
          <a:prstGeom prst="roundRect">
            <a:avLst>
              <a:gd name="adj" fmla="val 4081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14375" y="1343025"/>
            <a:ext cx="247650" cy="24765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782955" y="1423035"/>
            <a:ext cx="117157" cy="90487"/>
          </a:xfrm>
          <a:custGeom>
            <a:avLst/>
            <a:gdLst/>
            <a:ahLst/>
            <a:cxnLst/>
            <a:rect l="l" t="t" r="r" b="b"/>
            <a:pathLst>
              <a:path w="117157" h="90487">
                <a:moveTo>
                  <a:pt x="0" y="43815"/>
                </a:moveTo>
                <a:lnTo>
                  <a:pt x="42863" y="90487"/>
                </a:lnTo>
                <a:lnTo>
                  <a:pt x="117157" y="0"/>
                </a:lnTo>
              </a:path>
            </a:pathLst>
          </a:custGeom>
          <a:noFill/>
          <a:ln w="24765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750" y="133350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1F9D6B"/>
                </a:solidFill>
                <a:latin typeface="Microsoft YaHei"/>
                <a:ea typeface="Microsoft YaHei"/>
              </a:rPr>
              <a:t>国内 · 已理顺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1714500"/>
            <a:ext cx="2457450" cy="1762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17"/>
              </a:lnSpc>
              <a:buClr>
                <a:srgbClr val="1F9D6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问题最早来自国内营销反馈</a:t>
            </a:r>
          </a:p>
          <a:p>
            <a:pPr algn="l" marL="146685" indent="-146685">
              <a:lnSpc>
                <a:spcPts val="1417"/>
              </a:lnSpc>
              <a:spcBef>
                <a:spcPts val="300"/>
              </a:spcBef>
              <a:buClr>
                <a:srgbClr val="1F9D6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V7普及、版本统一，升级梯度相对统一</a:t>
            </a:r>
          </a:p>
          <a:p>
            <a:pPr algn="l" marL="146685" indent="-146685">
              <a:lnSpc>
                <a:spcPts val="1417"/>
              </a:lnSpc>
              <a:spcBef>
                <a:spcPts val="300"/>
              </a:spcBef>
              <a:buClr>
                <a:srgbClr val="1F9D6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按运营商节奏，每年一份即可</a:t>
            </a:r>
          </a:p>
          <a:p>
            <a:pPr algn="l" marL="146685" indent="-146685">
              <a:lnSpc>
                <a:spcPts val="1417"/>
              </a:lnSpc>
              <a:spcBef>
                <a:spcPts val="300"/>
              </a:spcBef>
              <a:buClr>
                <a:srgbClr val="1F9D6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交付项目组牵头、产品线整理，协作渐入正轨</a:t>
            </a:r>
          </a:p>
          <a:p>
            <a:pPr algn="l" marL="146685" indent="-146685">
              <a:lnSpc>
                <a:spcPts val="1417"/>
              </a:lnSpc>
              <a:spcBef>
                <a:spcPts val="300"/>
              </a:spcBef>
              <a:buClr>
                <a:srgbClr val="1F9D6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近几年已不再反馈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667125"/>
            <a:ext cx="2762250" cy="2714625"/>
          </a:xfrm>
          <a:prstGeom prst="roundRect">
            <a:avLst>
              <a:gd name="adj" fmla="val 3508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14375" y="3819525"/>
            <a:ext cx="247650" cy="2476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791528" y="3896678"/>
            <a:ext cx="93344" cy="93344"/>
          </a:xfrm>
          <a:prstGeom prst="line">
            <a:avLst/>
          </a:prstGeom>
          <a:ln w="24765">
            <a:solidFill>
              <a:srgbClr val="FFFFFF"/>
            </a:solidFill>
            <a:round/>
          </a:ln>
        </p:spPr>
      </p:cxnSp>
      <p:cxnSp>
        <p:nvCxnSpPr>
          <p:cNvPr id="18" name="Connector 17"/>
          <p:cNvCxnSpPr/>
          <p:nvPr/>
        </p:nvCxnSpPr>
        <p:spPr>
          <a:xfrm flipV="1">
            <a:off x="791528" y="3896678"/>
            <a:ext cx="93344" cy="93344"/>
          </a:xfrm>
          <a:prstGeom prst="line">
            <a:avLst/>
          </a:prstGeom>
          <a:ln w="24765">
            <a:solidFill>
              <a:srgbClr val="FFFFFF"/>
            </a:solidFill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1047750" y="381000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D9483B"/>
                </a:solidFill>
                <a:latin typeface="Microsoft YaHei"/>
                <a:ea typeface="Microsoft YaHei"/>
              </a:rPr>
              <a:t>国际 · 日益突出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4191000"/>
            <a:ext cx="245745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17"/>
              </a:lnSpc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交付涉及人员众多</a:t>
            </a:r>
          </a:p>
          <a:p>
            <a:pPr algn="l" marL="146685" indent="-146685">
              <a:lnSpc>
                <a:spcPts val="1417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CCN文档团队持续推进改进，但过程并不顺利</a:t>
            </a:r>
          </a:p>
          <a:p>
            <a:pPr algn="l" marL="146685" indent="-146685">
              <a:lnSpc>
                <a:spcPts val="1417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磕磕绊绊，已有三年</a:t>
            </a:r>
          </a:p>
          <a:p>
            <a:pPr algn="l" marL="146685" indent="-146685">
              <a:lnSpc>
                <a:spcPts val="1417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集中表现为右侧四大痛点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3750" y="5019675"/>
            <a:ext cx="209550" cy="0"/>
          </a:xfrm>
          <a:prstGeom prst="line">
            <a:avLst/>
          </a:prstGeom>
          <a:ln w="23812">
            <a:solidFill>
              <a:srgbClr val="D9483B"/>
            </a:solidFill>
            <a:round/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3667125" y="1190625"/>
            <a:ext cx="3905250" cy="207645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3810000" y="1333500"/>
            <a:ext cx="285750" cy="2857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810000" y="1333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1475" y="1323975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语言不统一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4625" y="135255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24625" y="13525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共识推进中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6675" y="1743075"/>
            <a:ext cx="3524250" cy="147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70"/>
              </a:lnSpc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后方：通用RN属研发产品文档，定制RN属现场工程文档，概念、生产过程、职责归属是两条线</a:t>
            </a:r>
          </a:p>
          <a:p>
            <a:pPr algn="l" marL="146685" indent="-146685">
              <a:lnSpc>
                <a:spcPts val="1470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国际交付涉及人员众多，概念区分难以普及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15250" y="1190625"/>
            <a:ext cx="3905250" cy="207645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858125" y="1333500"/>
            <a:ext cx="285750" cy="2857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858125" y="1333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323975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交付职责拉扯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2750" y="135255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572750" y="13525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已磨合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4800" y="1743075"/>
            <a:ext cx="3524250" cy="147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70"/>
              </a:lnSpc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国际：文档内外合一，Support上的RN应可直接（或轻量裁剪后）交付客户</a:t>
            </a:r>
          </a:p>
          <a:p>
            <a:pPr algn="l" marL="146685" indent="-146685">
              <a:lnSpc>
                <a:spcPts val="1470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后方：通用RN未经市场和交付审核，不能直接给客户；定制RN应对齐国内，由现场项目组牵头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67125" y="3400425"/>
            <a:ext cx="3905250" cy="207645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3810000" y="3543300"/>
            <a:ext cx="285750" cy="2857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810000" y="35433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1475" y="3533775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通用RN英化有过硬伤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24625" y="356235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24625" y="35623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1F9D6B"/>
                </a:solidFill>
                <a:latin typeface="Microsoft YaHei"/>
                <a:ea typeface="Microsoft YaHei"/>
              </a:rPr>
              <a:t>已改善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76675" y="3952875"/>
            <a:ext cx="3524250" cy="147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70"/>
              </a:lnSpc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早期研发人工翻译，水平参差、缺乏质保，前方反馈过低级拼写错误</a:t>
            </a:r>
          </a:p>
          <a:p>
            <a:pPr algn="l" marL="146685" indent="-146685">
              <a:lnSpc>
                <a:spcPts val="1470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现已推广translate机翻、CCN专用词库、拼写检查纳入DevOps流水线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15250" y="3400425"/>
            <a:ext cx="3905250" cy="207645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23812">
            <a:solidFill>
              <a:srgbClr val="D9483B"/>
            </a:solidFill>
          </a:ln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7858125" y="3543300"/>
            <a:ext cx="285750" cy="28575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858125" y="35433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3533775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需求传递不畅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72750" y="3562350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572750" y="35623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D9483B"/>
                </a:solidFill>
                <a:latin typeface="Microsoft YaHei"/>
                <a:ea typeface="Microsoft YaHei"/>
              </a:rPr>
              <a:t>核心难题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4800" y="3952875"/>
            <a:ext cx="3524250" cy="1476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70"/>
              </a:lnSpc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定制RN需求与现场工程操作紧密相关，理想是在工程操作前甄别并提出</a:t>
            </a:r>
          </a:p>
          <a:p>
            <a:pPr algn="l" marL="146685" indent="-146685">
              <a:lnSpc>
                <a:spcPts val="1470"/>
              </a:lnSpc>
              <a:spcBef>
                <a:spcPts val="450"/>
              </a:spcBef>
              <a:buClr>
                <a:srgbClr val="D9483B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需求未提、提交滞后、提交后不能及时传递到产研的情况仍然存在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67125" y="5619750"/>
            <a:ext cx="7953375" cy="762000"/>
          </a:xfrm>
          <a:prstGeom prst="roundRect">
            <a:avLst>
              <a:gd name="adj" fmla="val 12500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905250" y="5619750"/>
            <a:ext cx="752475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39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痛点1~3通过前后方沟通磨合与工具改善已逐步缓解；</a:t>
            </a: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痛点4“需求传递不畅”是三年改进始终未解的核心难题</a:t>
            </a: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，也是本专项的主攻方向。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三年改进历程：每一步都卡在“需求”上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E8892B"/>
                </a:solidFill>
                <a:latin typeface="Microsoft YaHei"/>
                <a:ea typeface="Microsoft YaHei"/>
              </a:rPr>
              <a:t>02 原因分析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CCN文档团队自2024年起将国际定制RN作为改进专项推进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6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1250" y="1428750"/>
            <a:ext cx="9239250" cy="66675"/>
          </a:xfrm>
          <a:prstGeom prst="rect">
            <a:avLst/>
          </a:prstGeom>
          <a:solidFill>
            <a:srgbClr val="4F5F6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11572875" y="1333500"/>
            <a:ext cx="238125" cy="257175"/>
          </a:xfrm>
          <a:custGeom>
            <a:avLst/>
            <a:gdLst/>
            <a:ahLst/>
            <a:cxnLst/>
            <a:rect l="l" t="t" r="r" b="b"/>
            <a:pathLst>
              <a:path w="238125" h="257175">
                <a:moveTo>
                  <a:pt x="0" y="0"/>
                </a:moveTo>
                <a:lnTo>
                  <a:pt x="238125" y="128588"/>
                </a:lnTo>
                <a:lnTo>
                  <a:pt x="0" y="257175"/>
                </a:lnTo>
                <a:close/>
              </a:path>
            </a:pathLst>
          </a:custGeom>
          <a:solidFill>
            <a:srgbClr val="4F5F6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95625" y="110490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500" b="1">
                <a:solidFill>
                  <a:srgbClr val="0B3A5B"/>
                </a:solidFill>
                <a:latin typeface="Microsoft YaHei"/>
                <a:ea typeface="Microsoft YaHei"/>
              </a:rPr>
              <a:t>2024年</a:t>
            </a:r>
          </a:p>
        </p:txBody>
      </p:sp>
      <p:sp>
        <p:nvSpPr>
          <p:cNvPr id="14" name="Oval 13"/>
          <p:cNvSpPr/>
          <p:nvPr/>
        </p:nvSpPr>
        <p:spPr>
          <a:xfrm>
            <a:off x="3771900" y="1376362"/>
            <a:ext cx="171450" cy="171450"/>
          </a:xfrm>
          <a:prstGeom prst="ellipse">
            <a:avLst/>
          </a:prstGeom>
          <a:solidFill>
            <a:srgbClr val="0085CC"/>
          </a:solidFill>
          <a:ln w="285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3857625" y="1552575"/>
            <a:ext cx="0" cy="161925"/>
          </a:xfrm>
          <a:prstGeom prst="line">
            <a:avLst/>
          </a:prstGeom>
          <a:ln w="14288">
            <a:solidFill>
              <a:srgbClr val="0085CC"/>
            </a:solidFill>
            <a:prstDash val="dash"/>
            <a:round/>
          </a:ln>
        </p:spPr>
      </p:cxnSp>
      <p:sp>
        <p:nvSpPr>
          <p:cNvPr id="16" name="Rounded Rectangle 15"/>
          <p:cNvSpPr/>
          <p:nvPr/>
        </p:nvSpPr>
        <p:spPr>
          <a:xfrm>
            <a:off x="2381250" y="1714500"/>
            <a:ext cx="2952750" cy="342900"/>
          </a:xfrm>
          <a:prstGeom prst="roundRect">
            <a:avLst>
              <a:gd name="adj" fmla="val 11111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81250" y="1714500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统一思想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110490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500" b="1">
                <a:solidFill>
                  <a:srgbClr val="0B3A5B"/>
                </a:solidFill>
                <a:latin typeface="Microsoft YaHei"/>
                <a:ea typeface="Microsoft YaHei"/>
              </a:rPr>
              <a:t>2025年</a:t>
            </a:r>
          </a:p>
        </p:txBody>
      </p:sp>
      <p:sp>
        <p:nvSpPr>
          <p:cNvPr id="19" name="Oval 18"/>
          <p:cNvSpPr/>
          <p:nvPr/>
        </p:nvSpPr>
        <p:spPr>
          <a:xfrm>
            <a:off x="6867525" y="1376362"/>
            <a:ext cx="171450" cy="171450"/>
          </a:xfrm>
          <a:prstGeom prst="ellipse">
            <a:avLst/>
          </a:prstGeom>
          <a:solidFill>
            <a:srgbClr val="0085CC"/>
          </a:solidFill>
          <a:ln w="285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6953250" y="1552575"/>
            <a:ext cx="0" cy="161925"/>
          </a:xfrm>
          <a:prstGeom prst="line">
            <a:avLst/>
          </a:prstGeom>
          <a:ln w="14288">
            <a:solidFill>
              <a:srgbClr val="0085CC"/>
            </a:solidFill>
            <a:prstDash val="dash"/>
            <a:round/>
          </a:ln>
        </p:spPr>
      </p:cxnSp>
      <p:sp>
        <p:nvSpPr>
          <p:cNvPr id="21" name="Rounded Rectangle 20"/>
          <p:cNvSpPr/>
          <p:nvPr/>
        </p:nvSpPr>
        <p:spPr>
          <a:xfrm>
            <a:off x="5476875" y="1714500"/>
            <a:ext cx="2952750" cy="342900"/>
          </a:xfrm>
          <a:prstGeom prst="roundRect">
            <a:avLst>
              <a:gd name="adj" fmla="val 11111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76875" y="1714500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流程上线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1104900"/>
            <a:ext cx="1524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500" b="1">
                <a:solidFill>
                  <a:srgbClr val="0B3A5B"/>
                </a:solidFill>
                <a:latin typeface="Microsoft YaHei"/>
                <a:ea typeface="Microsoft YaHei"/>
              </a:rPr>
              <a:t>2026年</a:t>
            </a:r>
          </a:p>
        </p:txBody>
      </p:sp>
      <p:sp>
        <p:nvSpPr>
          <p:cNvPr id="24" name="Oval 23"/>
          <p:cNvSpPr/>
          <p:nvPr/>
        </p:nvSpPr>
        <p:spPr>
          <a:xfrm>
            <a:off x="9963150" y="1376362"/>
            <a:ext cx="171450" cy="171450"/>
          </a:xfrm>
          <a:prstGeom prst="ellipse">
            <a:avLst/>
          </a:prstGeom>
          <a:solidFill>
            <a:srgbClr val="0085CC"/>
          </a:solidFill>
          <a:ln w="28575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10048875" y="1552575"/>
            <a:ext cx="0" cy="161925"/>
          </a:xfrm>
          <a:prstGeom prst="line">
            <a:avLst/>
          </a:prstGeom>
          <a:ln w="14288">
            <a:solidFill>
              <a:srgbClr val="0085CC"/>
            </a:solidFill>
            <a:prstDash val="dash"/>
            <a:round/>
          </a:ln>
        </p:spPr>
      </p:cxnSp>
      <p:sp>
        <p:nvSpPr>
          <p:cNvPr id="26" name="Rounded Rectangle 25"/>
          <p:cNvSpPr/>
          <p:nvPr/>
        </p:nvSpPr>
        <p:spPr>
          <a:xfrm>
            <a:off x="8572500" y="1714500"/>
            <a:ext cx="2952750" cy="342900"/>
          </a:xfrm>
          <a:prstGeom prst="roundRect">
            <a:avLst>
              <a:gd name="adj" fmla="val 11111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72500" y="1714500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断点接续</a:t>
            </a:r>
          </a:p>
        </p:txBody>
      </p:sp>
      <p:sp>
        <p:nvSpPr>
          <p:cNvPr id="28" name="Freeform 27"/>
          <p:cNvSpPr/>
          <p:nvPr/>
        </p:nvSpPr>
        <p:spPr>
          <a:xfrm>
            <a:off x="571500" y="1905000"/>
            <a:ext cx="1666875" cy="1619250"/>
          </a:xfrm>
          <a:custGeom>
            <a:avLst/>
            <a:gdLst/>
            <a:ahLst/>
            <a:cxnLst/>
            <a:rect l="l" t="t" r="r" b="b"/>
            <a:pathLst>
              <a:path w="1666875" h="1619250">
                <a:moveTo>
                  <a:pt x="0" y="0"/>
                </a:moveTo>
                <a:lnTo>
                  <a:pt x="1495425" y="0"/>
                </a:lnTo>
                <a:lnTo>
                  <a:pt x="1666875" y="809625"/>
                </a:lnTo>
                <a:lnTo>
                  <a:pt x="1495425" y="1619250"/>
                </a:lnTo>
                <a:lnTo>
                  <a:pt x="0" y="1619250"/>
                </a:lnTo>
                <a:close/>
              </a:path>
            </a:pathLst>
          </a:cu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5800" y="1905000"/>
            <a:ext cx="1333500" cy="1619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48"/>
              </a:lnSpc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定制RN：</a:t>
            </a:r>
          </a:p>
          <a:p>
            <a:pPr algn="l">
              <a:lnSpc>
                <a:spcPts val="1848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线上流程打通</a:t>
            </a:r>
          </a:p>
        </p:txBody>
      </p:sp>
      <p:sp>
        <p:nvSpPr>
          <p:cNvPr id="30" name="Freeform 29"/>
          <p:cNvSpPr/>
          <p:nvPr/>
        </p:nvSpPr>
        <p:spPr>
          <a:xfrm>
            <a:off x="571500" y="3762375"/>
            <a:ext cx="1666875" cy="857250"/>
          </a:xfrm>
          <a:custGeom>
            <a:avLst/>
            <a:gdLst/>
            <a:ahLst/>
            <a:cxnLst/>
            <a:rect l="l" t="t" r="r" b="b"/>
            <a:pathLst>
              <a:path w="1666875" h="857250">
                <a:moveTo>
                  <a:pt x="0" y="0"/>
                </a:moveTo>
                <a:lnTo>
                  <a:pt x="1495425" y="0"/>
                </a:lnTo>
                <a:lnTo>
                  <a:pt x="1666875" y="428625"/>
                </a:lnTo>
                <a:lnTo>
                  <a:pt x="1495425" y="857250"/>
                </a:lnTo>
                <a:lnTo>
                  <a:pt x="0" y="857250"/>
                </a:lnTo>
                <a:close/>
              </a:path>
            </a:pathLst>
          </a:custGeom>
          <a:solidFill>
            <a:srgbClr val="7B879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3762375"/>
            <a:ext cx="13335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48"/>
              </a:lnSpc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通用RN：</a:t>
            </a:r>
          </a:p>
          <a:p>
            <a:pPr algn="l">
              <a:lnSpc>
                <a:spcPts val="1848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基础能力打底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250" y="2057400"/>
            <a:ext cx="295275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CC8EA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33650" y="2152650"/>
            <a:ext cx="2667000" cy="138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国际工服文档团队接纳定制RN需求提交要求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确定定制RN的流程和职责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国际组织试点触发定制RN需求提交</a:t>
            </a:r>
            <a:r>
              <a:rPr sz="1050" b="1">
                <a:solidFill>
                  <a:srgbClr val="D9483B"/>
                </a:solidFill>
                <a:latin typeface="Microsoft YaHei"/>
                <a:ea typeface="Microsoft YaHei"/>
              </a:rPr>
              <a:t>（效果不佳1）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81250" y="3762375"/>
            <a:ext cx="2952750" cy="857250"/>
          </a:xfrm>
          <a:prstGeom prst="rect">
            <a:avLst/>
          </a:prstGeom>
          <a:solidFill>
            <a:srgbClr val="F1F3F5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533650" y="383857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7B8794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研发通用RN提质提效实践探索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76875" y="2057400"/>
            <a:ext cx="295275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CC8EA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29275" y="2152650"/>
            <a:ext cx="2667000" cy="138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研发RDC上线ER工作项支持工程验证需求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RDC-ER支持定制RN需求标识</a:t>
            </a:r>
            <a:r>
              <a:rPr sz="1050" b="1">
                <a:solidFill>
                  <a:srgbClr val="D9483B"/>
                </a:solidFill>
                <a:latin typeface="Microsoft YaHei"/>
                <a:ea typeface="Microsoft YaHei"/>
              </a:rPr>
              <a:t>（效果不佳2）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提出定制RN需求搭车iDOP模型包验证流程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76875" y="3762375"/>
            <a:ext cx="2952750" cy="857250"/>
          </a:xfrm>
          <a:prstGeom prst="rect">
            <a:avLst/>
          </a:prstGeom>
          <a:solidFill>
            <a:srgbClr val="F1F3F5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29275" y="383857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7B8794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USPP完成通用RN自动生成实践探索，极大提高通用RN生产效率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2500" y="2057400"/>
            <a:ext cx="2952750" cy="1524000"/>
          </a:xfrm>
          <a:prstGeom prst="rect">
            <a:avLst/>
          </a:prstGeom>
          <a:solidFill>
            <a:srgbClr val="FFFFFF"/>
          </a:solidFill>
          <a:ln w="11430">
            <a:solidFill>
              <a:srgbClr val="8CC8EA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24900" y="2152650"/>
            <a:ext cx="2667000" cy="1381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iDOP上线定制RN需求字段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H1收集到定制RN需求30+</a:t>
            </a:r>
            <a:r>
              <a:rPr sz="1050" b="1">
                <a:solidFill>
                  <a:srgbClr val="D9483B"/>
                </a:solidFill>
                <a:latin typeface="Microsoft YaHei"/>
                <a:ea typeface="Microsoft YaHei"/>
              </a:rPr>
              <a:t>（未传递到研发RDC）</a:t>
            </a:r>
          </a:p>
          <a:p>
            <a:pPr algn="l" marL="146685" indent="-146685">
              <a:lnSpc>
                <a:spcPts val="1449"/>
              </a:lnSpc>
              <a:spcBef>
                <a:spcPts val="375"/>
              </a:spcBef>
              <a:buClr>
                <a:srgbClr val="0085CC"/>
              </a:buClr>
              <a:buFont typeface="Arial"/>
              <a:buChar char="•"/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iDOP和RDC系统打通，实现自动创建ER并传递需求（8月中上线）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72500" y="3762375"/>
            <a:ext cx="2952750" cy="857250"/>
          </a:xfrm>
          <a:prstGeom prst="rect">
            <a:avLst/>
          </a:prstGeom>
          <a:solidFill>
            <a:srgbClr val="F1F3F5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24900" y="3838575"/>
            <a:ext cx="2667000" cy="723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146685" indent="-146685">
              <a:lnSpc>
                <a:spcPts val="1449"/>
              </a:lnSpc>
              <a:buClr>
                <a:srgbClr val="7B8794"/>
              </a:buClr>
              <a:buFont typeface="Arial"/>
              <a:buChar char="•"/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CCN中心横推通用RN自动生成实践</a:t>
            </a:r>
          </a:p>
        </p:txBody>
      </p:sp>
      <p:sp>
        <p:nvSpPr>
          <p:cNvPr id="44" name="Freeform 43"/>
          <p:cNvSpPr/>
          <p:nvPr/>
        </p:nvSpPr>
        <p:spPr>
          <a:xfrm>
            <a:off x="571500" y="4810125"/>
            <a:ext cx="1666875" cy="1571625"/>
          </a:xfrm>
          <a:custGeom>
            <a:avLst/>
            <a:gdLst/>
            <a:ahLst/>
            <a:cxnLst/>
            <a:rect l="l" t="t" r="r" b="b"/>
            <a:pathLst>
              <a:path w="1666875" h="1571625">
                <a:moveTo>
                  <a:pt x="0" y="0"/>
                </a:moveTo>
                <a:lnTo>
                  <a:pt x="1495425" y="0"/>
                </a:lnTo>
                <a:lnTo>
                  <a:pt x="1666875" y="785813"/>
                </a:lnTo>
                <a:lnTo>
                  <a:pt x="1495425" y="1571625"/>
                </a:lnTo>
                <a:lnTo>
                  <a:pt x="0" y="1571625"/>
                </a:lnTo>
                <a:close/>
              </a:path>
            </a:pathLst>
          </a:cu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4810125"/>
            <a:ext cx="1333500" cy="157162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48"/>
              </a:lnSpc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</a:rPr>
              <a:t>问题复盘：</a:t>
            </a:r>
          </a:p>
          <a:p>
            <a:pPr algn="l">
              <a:lnSpc>
                <a:spcPts val="1848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三个断点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81250" y="4810125"/>
            <a:ext cx="2952750" cy="1571625"/>
          </a:xfrm>
          <a:prstGeom prst="roundRect">
            <a:avLst>
              <a:gd name="adj" fmla="val 3636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381250" y="4810125"/>
            <a:ext cx="47625" cy="1571625"/>
          </a:xfrm>
          <a:prstGeom prst="rect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571750" y="4905375"/>
            <a:ext cx="26289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效果不佳1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71750" y="5219700"/>
            <a:ext cx="26289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约定的ZXRDC提交定制RN需求，很难落地，鲜有提交，靠人盯人，很难持续。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76875" y="4810125"/>
            <a:ext cx="2952750" cy="1571625"/>
          </a:xfrm>
          <a:prstGeom prst="roundRect">
            <a:avLst>
              <a:gd name="adj" fmla="val 3636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476875" y="4810125"/>
            <a:ext cx="47625" cy="1571625"/>
          </a:xfrm>
          <a:prstGeom prst="rect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667375" y="4905375"/>
            <a:ext cx="26289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效果不佳2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7375" y="5219700"/>
            <a:ext cx="26289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虽然研发RDC有定制RN需求字段触发后端文档生产流程，但没有需求数据来源，ER提交者非定制RN直接干系人，难以识别。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72500" y="4810125"/>
            <a:ext cx="2952750" cy="1571625"/>
          </a:xfrm>
          <a:prstGeom prst="roundRect">
            <a:avLst>
              <a:gd name="adj" fmla="val 3636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572500" y="4810125"/>
            <a:ext cx="47625" cy="1571625"/>
          </a:xfrm>
          <a:prstGeom prst="rect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763000" y="4905375"/>
            <a:ext cx="26289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iDOP需求未能传递到RDC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63000" y="5219700"/>
            <a:ext cx="2628900" cy="1123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典型的工作流断链，通过工具开发支持系统贯通是终极方案。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根因分析：难在“触发”，断在“传递”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E8892B"/>
                </a:solidFill>
                <a:latin typeface="Microsoft YaHei"/>
                <a:ea typeface="Microsoft YaHei"/>
              </a:rPr>
              <a:t>02 原因分析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三年摸索的结论：定制RN的核心困难是①如何触发需求识别？②需求触发后如何传递和闭环？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7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181100"/>
            <a:ext cx="3143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25" b="1">
                <a:solidFill>
                  <a:srgbClr val="D9483B"/>
                </a:solidFill>
                <a:latin typeface="Microsoft YaHei"/>
                <a:ea typeface="Microsoft YaHei"/>
              </a:rPr>
              <a:t>现象（三个断点）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11811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25" b="1">
                <a:solidFill>
                  <a:srgbClr val="E8892B"/>
                </a:solidFill>
                <a:latin typeface="Microsoft YaHei"/>
                <a:ea typeface="Microsoft YaHei"/>
              </a:rPr>
              <a:t>根因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0" y="118110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25" b="1">
                <a:solidFill>
                  <a:srgbClr val="0B3A5B"/>
                </a:solidFill>
                <a:latin typeface="Microsoft YaHei"/>
                <a:ea typeface="Microsoft YaHei"/>
              </a:rPr>
              <a:t>本质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1476375"/>
            <a:ext cx="3143250" cy="1238250"/>
          </a:xfrm>
          <a:prstGeom prst="roundRect">
            <a:avLst>
              <a:gd name="adj" fmla="val 6153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2000" y="1609725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D9483B"/>
                </a:solidFill>
                <a:latin typeface="Microsoft YaHei"/>
                <a:ea typeface="Microsoft YaHei"/>
              </a:rPr>
              <a:t>效果不佳1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933575"/>
            <a:ext cx="276225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ZXRDC单独提交定制RN需求，鲜有提交，靠人盯人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33800" y="2095500"/>
            <a:ext cx="514350" cy="0"/>
          </a:xfrm>
          <a:prstGeom prst="line">
            <a:avLst/>
          </a:prstGeom>
          <a:ln w="23812">
            <a:solidFill>
              <a:srgbClr val="D9483B"/>
            </a:solidFill>
            <a:round/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4286250" y="1476375"/>
            <a:ext cx="3810000" cy="1238250"/>
          </a:xfrm>
          <a:prstGeom prst="roundRect">
            <a:avLst>
              <a:gd name="adj" fmla="val 6153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76750" y="1609725"/>
            <a:ext cx="3429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E8892B"/>
                </a:solidFill>
                <a:latin typeface="Microsoft YaHei"/>
                <a:ea typeface="Microsoft YaHei"/>
              </a:rPr>
              <a:t>R1  定制RN不是主业务场景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1933575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单独提交的要求游离于工程交付主流程之外，执行起来不是遗漏，就是滞后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2905125"/>
            <a:ext cx="3143250" cy="1238250"/>
          </a:xfrm>
          <a:prstGeom prst="roundRect">
            <a:avLst>
              <a:gd name="adj" fmla="val 6153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2000" y="3038475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D9483B"/>
                </a:solidFill>
                <a:latin typeface="Microsoft YaHei"/>
                <a:ea typeface="Microsoft YaHei"/>
              </a:rPr>
              <a:t>效果不佳2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362325"/>
            <a:ext cx="276225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RDC有定制RN需求字段，却没有需求数据来源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33800" y="3524250"/>
            <a:ext cx="514350" cy="0"/>
          </a:xfrm>
          <a:prstGeom prst="line">
            <a:avLst/>
          </a:prstGeom>
          <a:ln w="23812">
            <a:solidFill>
              <a:srgbClr val="D9483B"/>
            </a:solidFill>
            <a:round/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4286250" y="2905125"/>
            <a:ext cx="3810000" cy="1238250"/>
          </a:xfrm>
          <a:prstGeom prst="roundRect">
            <a:avLst>
              <a:gd name="adj" fmla="val 6153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76750" y="3038475"/>
            <a:ext cx="3429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E8892B"/>
                </a:solidFill>
                <a:latin typeface="Microsoft YaHei"/>
                <a:ea typeface="Microsoft YaHei"/>
              </a:rPr>
              <a:t>R2  需求源头错位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6750" y="3362325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ER提交者并非定制RN直接干系人，需求难以识别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4333875"/>
            <a:ext cx="3143250" cy="1238250"/>
          </a:xfrm>
          <a:prstGeom prst="roundRect">
            <a:avLst>
              <a:gd name="adj" fmla="val 6153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2000" y="4467225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D9483B"/>
                </a:solidFill>
                <a:latin typeface="Microsoft YaHei"/>
                <a:ea typeface="Microsoft YaHei"/>
              </a:rPr>
              <a:t>断链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791075"/>
            <a:ext cx="276225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iDOP收集到30+需求，未能传递到研发RDC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733800" y="4953000"/>
            <a:ext cx="514350" cy="0"/>
          </a:xfrm>
          <a:prstGeom prst="line">
            <a:avLst/>
          </a:prstGeom>
          <a:ln w="23812">
            <a:solidFill>
              <a:srgbClr val="D9483B"/>
            </a:solidFill>
            <a:round/>
            <a:tailEnd type="triangle" w="med" len="med"/>
          </a:ln>
        </p:spPr>
      </p:cxnSp>
      <p:sp>
        <p:nvSpPr>
          <p:cNvPr id="32" name="Rounded Rectangle 31"/>
          <p:cNvSpPr/>
          <p:nvPr/>
        </p:nvSpPr>
        <p:spPr>
          <a:xfrm>
            <a:off x="4286250" y="4333875"/>
            <a:ext cx="3810000" cy="1238250"/>
          </a:xfrm>
          <a:prstGeom prst="roundRect">
            <a:avLst>
              <a:gd name="adj" fmla="val 6153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76750" y="4467225"/>
            <a:ext cx="3429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E8892B"/>
                </a:solidFill>
                <a:latin typeface="Microsoft YaHei"/>
                <a:ea typeface="Microsoft YaHei"/>
              </a:rPr>
              <a:t>R3  工具链断链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6750" y="4791075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iDOP与RDC系统未贯通，需求无法自动流转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67750" y="1476375"/>
            <a:ext cx="2952750" cy="2667000"/>
          </a:xfrm>
          <a:prstGeom prst="roundRect">
            <a:avLst>
              <a:gd name="adj" fmla="val 3571"/>
            </a:avLst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05875" y="1666875"/>
            <a:ext cx="24765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需求触发难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5875" y="209550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05875" y="2266950"/>
            <a:ext cx="2495550" cy="1809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2401" indent="-162401">
              <a:lnSpc>
                <a:spcPts val="1685"/>
              </a:lnSpc>
              <a:buClr>
                <a:srgbClr val="FFFFFF"/>
              </a:buClr>
              <a:buFont typeface="Arial"/>
              <a:buChar char="•"/>
            </a:pPr>
            <a:r>
              <a:rPr sz="1162" b="0">
                <a:solidFill>
                  <a:srgbClr val="FFFFFF"/>
                </a:solidFill>
                <a:latin typeface="Microsoft YaHei"/>
                <a:ea typeface="Microsoft YaHei"/>
              </a:rPr>
              <a:t>最困难的环节</a:t>
            </a:r>
          </a:p>
          <a:p>
            <a:pPr algn="l" marL="162401" indent="-162401">
              <a:lnSpc>
                <a:spcPts val="1685"/>
              </a:lnSpc>
              <a:spcBef>
                <a:spcPts val="600"/>
              </a:spcBef>
              <a:buClr>
                <a:srgbClr val="FFFFFF"/>
              </a:buClr>
              <a:buFont typeface="Arial"/>
              <a:buChar char="•"/>
            </a:pPr>
            <a:r>
              <a:rPr sz="1162" b="0">
                <a:solidFill>
                  <a:srgbClr val="FFFFFF"/>
                </a:solidFill>
                <a:latin typeface="Microsoft YaHei"/>
                <a:ea typeface="Microsoft YaHei"/>
              </a:rPr>
              <a:t>定制RN在工程交付中不是主业务场景，单独提需求难以落地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7750" y="4333875"/>
            <a:ext cx="2952750" cy="1238250"/>
          </a:xfrm>
          <a:prstGeom prst="roundRect">
            <a:avLst>
              <a:gd name="adj" fmla="val 7692"/>
            </a:avLst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905875" y="4476750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需求传递断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05875" y="4838700"/>
            <a:ext cx="25717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5"/>
              </a:lnSpc>
            </a:pPr>
            <a:r>
              <a:rPr sz="1162" b="0">
                <a:solidFill>
                  <a:srgbClr val="FFFFFF"/>
                </a:solidFill>
                <a:latin typeface="Microsoft YaHei"/>
                <a:ea typeface="Microsoft YaHei"/>
              </a:rPr>
              <a:t>识别到断点后，解决只是资源和时间问题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5300" y="2095500"/>
            <a:ext cx="514350" cy="381000"/>
          </a:xfrm>
          <a:prstGeom prst="line">
            <a:avLst/>
          </a:prstGeom>
          <a:ln w="23812">
            <a:solidFill>
              <a:srgbClr val="E8892B"/>
            </a:solidFill>
            <a:round/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 flipV="1">
            <a:off x="8115300" y="3143250"/>
            <a:ext cx="514350" cy="381000"/>
          </a:xfrm>
          <a:prstGeom prst="line">
            <a:avLst/>
          </a:prstGeom>
          <a:ln w="23812">
            <a:solidFill>
              <a:srgbClr val="E8892B"/>
            </a:solidFill>
            <a:round/>
            <a:tailEnd type="triangle" w="med" len="med"/>
          </a:ln>
        </p:spPr>
      </p:cxnSp>
      <p:cxnSp>
        <p:nvCxnSpPr>
          <p:cNvPr id="44" name="Connector 43"/>
          <p:cNvCxnSpPr/>
          <p:nvPr/>
        </p:nvCxnSpPr>
        <p:spPr>
          <a:xfrm>
            <a:off x="8115300" y="4953000"/>
            <a:ext cx="514350" cy="0"/>
          </a:xfrm>
          <a:prstGeom prst="line">
            <a:avLst/>
          </a:prstGeom>
          <a:ln w="23812">
            <a:solidFill>
              <a:srgbClr val="E8892B"/>
            </a:solidFill>
            <a:round/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571500" y="5762625"/>
            <a:ext cx="11049000" cy="628650"/>
          </a:xfrm>
          <a:prstGeom prst="roundRect">
            <a:avLst>
              <a:gd name="adj" fmla="val 15151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0100" y="5762625"/>
            <a:ext cx="10591800" cy="628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破题思路：</a:t>
            </a: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触发靠“搭车”主业务场景，传递靠工具链系统贯通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核心策略：“搭车”主业务场景，一次勾选触发需求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03 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理解业务本质：定制RN不是工程交付的主业务场景，与其另起炉灶，不如搭载必经的主流程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8 /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238250"/>
            <a:ext cx="3429000" cy="5143500"/>
          </a:xfrm>
          <a:prstGeom prst="roundRect">
            <a:avLst>
              <a:gd name="adj" fmla="val 2777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" y="1381125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7B8794"/>
                </a:solidFill>
                <a:latin typeface="Microsoft YaHei"/>
                <a:ea typeface="Microsoft YaHei"/>
              </a:rPr>
              <a:t>过去：单独提交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50" y="190500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2500" y="1943100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79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交付人员完成升级等工程操作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743200"/>
            <a:ext cx="0" cy="323850"/>
          </a:xfrm>
          <a:prstGeom prst="line">
            <a:avLst/>
          </a:prstGeom>
          <a:ln w="19050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857250" y="3095625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2500" y="3133725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79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额外到ZXRDC单独提交定制RN需求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3933825"/>
            <a:ext cx="0" cy="323850"/>
          </a:xfrm>
          <a:prstGeom prst="line">
            <a:avLst/>
          </a:prstGeom>
          <a:ln w="19050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2381250" y="3971925"/>
            <a:ext cx="14287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75"/>
              </a:lnSpc>
            </a:pPr>
            <a:r>
              <a:rPr sz="975" b="0">
                <a:solidFill>
                  <a:srgbClr val="D9483B"/>
                </a:solidFill>
                <a:latin typeface="Microsoft YaHei"/>
                <a:ea typeface="Microsoft YaHei"/>
              </a:rPr>
              <a:t>非主流程 · 易忽略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50" y="4286250"/>
            <a:ext cx="2857500" cy="838200"/>
          </a:xfrm>
          <a:prstGeom prst="roundRect">
            <a:avLst>
              <a:gd name="adj" fmla="val 6818"/>
            </a:avLst>
          </a:prstGeom>
          <a:solidFill>
            <a:srgbClr val="FCEDEB"/>
          </a:solidFill>
          <a:ln w="11430">
            <a:solidFill>
              <a:srgbClr val="D9483B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2500" y="4324350"/>
            <a:ext cx="26670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79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不是遗漏，就是滞后</a:t>
            </a:r>
          </a:p>
          <a:p>
            <a:pPr algn="ctr">
              <a:lnSpc>
                <a:spcPts val="1679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靠人盯人，难以持续</a:t>
            </a:r>
          </a:p>
        </p:txBody>
      </p:sp>
      <p:sp>
        <p:nvSpPr>
          <p:cNvPr id="22" name="Oval 21"/>
          <p:cNvSpPr/>
          <p:nvPr/>
        </p:nvSpPr>
        <p:spPr>
          <a:xfrm>
            <a:off x="2114550" y="5543550"/>
            <a:ext cx="342900" cy="342900"/>
          </a:xfrm>
          <a:prstGeom prst="ellipse">
            <a:avLst/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2221230" y="5650230"/>
            <a:ext cx="129540" cy="129540"/>
          </a:xfrm>
          <a:prstGeom prst="line">
            <a:avLst/>
          </a:prstGeom>
          <a:ln w="34290">
            <a:solidFill>
              <a:srgbClr val="FFFFFF"/>
            </a:solidFill>
            <a:round/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221230" y="5650230"/>
            <a:ext cx="129540" cy="129540"/>
          </a:xfrm>
          <a:prstGeom prst="line">
            <a:avLst/>
          </a:prstGeom>
          <a:ln w="34290">
            <a:solidFill>
              <a:srgbClr val="FFFFFF"/>
            </a:solidFill>
            <a:round/>
          </a:ln>
        </p:spPr>
      </p:cxnSp>
      <p:sp>
        <p:nvSpPr>
          <p:cNvPr id="25" name="TextBox 24"/>
          <p:cNvSpPr txBox="1"/>
          <p:nvPr/>
        </p:nvSpPr>
        <p:spPr>
          <a:xfrm>
            <a:off x="857250" y="5953125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D9483B"/>
                </a:solidFill>
                <a:latin typeface="Microsoft YaHei"/>
                <a:ea typeface="Microsoft YaHei"/>
              </a:rPr>
              <a:t>落地难</a:t>
            </a:r>
          </a:p>
        </p:txBody>
      </p:sp>
      <p:sp>
        <p:nvSpPr>
          <p:cNvPr id="26" name="Freeform 25"/>
          <p:cNvSpPr/>
          <p:nvPr/>
        </p:nvSpPr>
        <p:spPr>
          <a:xfrm>
            <a:off x="4152900" y="361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0"/>
                </a:moveTo>
                <a:lnTo>
                  <a:pt x="285750" y="190500"/>
                </a:lnTo>
                <a:lnTo>
                  <a:pt x="0" y="381000"/>
                </a:lnTo>
                <a:close/>
              </a:path>
            </a:pathLst>
          </a:cu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572000" y="1238250"/>
            <a:ext cx="7048500" cy="5143500"/>
          </a:xfrm>
          <a:prstGeom prst="roundRect">
            <a:avLst>
              <a:gd name="adj" fmla="val 1851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00600" y="1381125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085CC"/>
                </a:solidFill>
                <a:latin typeface="Microsoft YaHei"/>
                <a:ea typeface="Microsoft YaHei"/>
              </a:rPr>
              <a:t>现在：搭车外场升级主流程（iDOP）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10125" y="3048000"/>
            <a:ext cx="6572250" cy="47625"/>
          </a:xfrm>
          <a:prstGeom prst="rect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Freeform 29"/>
          <p:cNvSpPr/>
          <p:nvPr/>
        </p:nvSpPr>
        <p:spPr>
          <a:xfrm>
            <a:off x="11334750" y="2971800"/>
            <a:ext cx="190500" cy="200025"/>
          </a:xfrm>
          <a:custGeom>
            <a:avLst/>
            <a:gdLst/>
            <a:ahLst/>
            <a:cxnLst/>
            <a:rect l="l" t="t" r="r" b="b"/>
            <a:pathLst>
              <a:path w="190500" h="200025">
                <a:moveTo>
                  <a:pt x="0" y="0"/>
                </a:moveTo>
                <a:lnTo>
                  <a:pt x="190500" y="100012"/>
                </a:lnTo>
                <a:lnTo>
                  <a:pt x="0" y="200025"/>
                </a:lnTo>
                <a:close/>
              </a:path>
            </a:pathLst>
          </a:cu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905375" y="1952625"/>
            <a:ext cx="14097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81575" y="2000250"/>
            <a:ext cx="12573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iDOP</a:t>
            </a:r>
          </a:p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升级方案申请</a:t>
            </a:r>
          </a:p>
        </p:txBody>
      </p:sp>
      <p:sp>
        <p:nvSpPr>
          <p:cNvPr id="33" name="Oval 32"/>
          <p:cNvSpPr/>
          <p:nvPr/>
        </p:nvSpPr>
        <p:spPr>
          <a:xfrm>
            <a:off x="515302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589597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315075" y="2400300"/>
            <a:ext cx="190500" cy="57150"/>
          </a:xfrm>
          <a:prstGeom prst="rect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505575" y="1952625"/>
            <a:ext cx="14097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1775" y="2000250"/>
            <a:ext cx="12573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方案模型开发</a:t>
            </a:r>
          </a:p>
        </p:txBody>
      </p:sp>
      <p:sp>
        <p:nvSpPr>
          <p:cNvPr id="38" name="Oval 37"/>
          <p:cNvSpPr/>
          <p:nvPr/>
        </p:nvSpPr>
        <p:spPr>
          <a:xfrm>
            <a:off x="675322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617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915275" y="2400300"/>
            <a:ext cx="190500" cy="57150"/>
          </a:xfrm>
          <a:prstGeom prst="rect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05775" y="1952625"/>
            <a:ext cx="14097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81975" y="2000250"/>
            <a:ext cx="12573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模型包验证</a:t>
            </a:r>
          </a:p>
        </p:txBody>
      </p:sp>
      <p:sp>
        <p:nvSpPr>
          <p:cNvPr id="43" name="Oval 42"/>
          <p:cNvSpPr/>
          <p:nvPr/>
        </p:nvSpPr>
        <p:spPr>
          <a:xfrm>
            <a:off x="835342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09637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515475" y="2400300"/>
            <a:ext cx="190500" cy="57150"/>
          </a:xfrm>
          <a:prstGeom prst="rect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9705975" y="1952625"/>
            <a:ext cx="1409700" cy="952500"/>
          </a:xfrm>
          <a:prstGeom prst="roundRect">
            <a:avLst>
              <a:gd name="adj" fmla="val 10000"/>
            </a:avLst>
          </a:prstGeom>
          <a:solidFill>
            <a:srgbClr val="0085CC"/>
          </a:solidFill>
          <a:ln w="19050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9839325" y="2095500"/>
            <a:ext cx="209550" cy="20955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Freeform 47"/>
          <p:cNvSpPr/>
          <p:nvPr/>
        </p:nvSpPr>
        <p:spPr>
          <a:xfrm>
            <a:off x="9877425" y="2133600"/>
            <a:ext cx="142875" cy="123825"/>
          </a:xfrm>
          <a:custGeom>
            <a:avLst/>
            <a:gdLst/>
            <a:ahLst/>
            <a:cxnLst/>
            <a:rect l="l" t="t" r="r" b="b"/>
            <a:pathLst>
              <a:path w="142875" h="123825">
                <a:moveTo>
                  <a:pt x="0" y="66675"/>
                </a:moveTo>
                <a:lnTo>
                  <a:pt x="57150" y="123825"/>
                </a:lnTo>
                <a:lnTo>
                  <a:pt x="142875" y="0"/>
                </a:lnTo>
              </a:path>
            </a:pathLst>
          </a:custGeom>
          <a:noFill/>
          <a:ln w="28575">
            <a:solidFill>
              <a:srgbClr val="0085CC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86975" y="2000250"/>
            <a:ext cx="97155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是否需要</a:t>
            </a:r>
          </a:p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定制RN</a:t>
            </a:r>
          </a:p>
        </p:txBody>
      </p:sp>
      <p:sp>
        <p:nvSpPr>
          <p:cNvPr id="50" name="Oval 49"/>
          <p:cNvSpPr/>
          <p:nvPr/>
        </p:nvSpPr>
        <p:spPr>
          <a:xfrm>
            <a:off x="995362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10696575" y="2895600"/>
            <a:ext cx="171450" cy="171450"/>
          </a:xfrm>
          <a:prstGeom prst="ellipse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715500" y="1600200"/>
            <a:ext cx="1666875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搭载的“一节车厢”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05375" y="3286125"/>
            <a:ext cx="61912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0">
                <a:solidFill>
                  <a:srgbClr val="005B8F"/>
                </a:solidFill>
                <a:latin typeface="Microsoft YaHei"/>
                <a:ea typeface="Microsoft YaHei"/>
              </a:rPr>
              <a:t>主业务列车：外场升级必经流程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10125" y="3619500"/>
            <a:ext cx="20955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4972050" y="3781425"/>
            <a:ext cx="323850" cy="3238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972050" y="37814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81625" y="3800475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场景吻合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0625" y="4267200"/>
            <a:ext cx="17335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定制RN的需求场景基本都产生在升级场景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029450" y="3619500"/>
            <a:ext cx="20955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7191375" y="3781425"/>
            <a:ext cx="323850" cy="3238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191375" y="37814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00950" y="3800475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必经之路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19950" y="4267200"/>
            <a:ext cx="17335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外场升级需在iDOP申请方案模型开发及模型包验证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48775" y="3619500"/>
            <a:ext cx="2095500" cy="176212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9410700" y="3781425"/>
            <a:ext cx="323850" cy="3238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410700" y="3781425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75"/>
              </a:lnSpc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0275" y="3800475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710"/>
              </a:lnSpc>
            </a:pPr>
            <a:r>
              <a:rPr sz="1425" b="1">
                <a:solidFill>
                  <a:srgbClr val="0B3A5B"/>
                </a:solidFill>
                <a:latin typeface="Microsoft YaHei"/>
                <a:ea typeface="Microsoft YaHei"/>
              </a:rPr>
              <a:t>用户友好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9275" y="4267200"/>
            <a:ext cx="1733550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4F5F6F"/>
                </a:solidFill>
                <a:latin typeface="Microsoft YaHei"/>
                <a:ea typeface="Microsoft YaHei"/>
              </a:rPr>
              <a:t>只在主业务申请时做一次“是否需要定制RN”勾选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810125" y="5543550"/>
            <a:ext cx="6572250" cy="647700"/>
          </a:xfrm>
          <a:prstGeom prst="roundRect">
            <a:avLst>
              <a:gd name="adj" fmla="val 14705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000625" y="5543550"/>
            <a:ext cx="619125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55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需求触发从“靠自觉、靠人盯”变为“必经流程、顺手勾选”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端到端流程：从iDOP勾选到客户交付，全程系统贯通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03 解决方案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9 / 14</a:t>
            </a:r>
          </a:p>
        </p:txBody>
      </p:sp>
      <p:sp>
        <p:nvSpPr>
          <p:cNvPr id="10" name="Freeform 9"/>
          <p:cNvSpPr/>
          <p:nvPr/>
        </p:nvSpPr>
        <p:spPr>
          <a:xfrm>
            <a:off x="571500" y="1123950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114550" y="0"/>
                </a:lnTo>
                <a:lnTo>
                  <a:pt x="2286000" y="304800"/>
                </a:lnTo>
                <a:lnTo>
                  <a:pt x="211455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" y="11430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FFFFFF"/>
                </a:solidFill>
                <a:latin typeface="Microsoft YaHei"/>
                <a:ea typeface="Microsoft YaHei"/>
              </a:rPr>
              <a:t>① 需求触发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FFFFFF"/>
                </a:solidFill>
                <a:latin typeface="Microsoft YaHei"/>
                <a:ea typeface="Microsoft YaHei"/>
              </a:rPr>
              <a:t>交付总工</a:t>
            </a:r>
          </a:p>
        </p:txBody>
      </p:sp>
      <p:sp>
        <p:nvSpPr>
          <p:cNvPr id="12" name="Freeform 11"/>
          <p:cNvSpPr/>
          <p:nvPr/>
        </p:nvSpPr>
        <p:spPr>
          <a:xfrm>
            <a:off x="2781300" y="1123950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114550" y="0"/>
                </a:lnTo>
                <a:lnTo>
                  <a:pt x="2286000" y="304800"/>
                </a:lnTo>
                <a:lnTo>
                  <a:pt x="2114550" y="609600"/>
                </a:lnTo>
                <a:lnTo>
                  <a:pt x="0" y="609600"/>
                </a:lnTo>
                <a:lnTo>
                  <a:pt x="171450" y="304800"/>
                </a:lnTo>
                <a:close/>
              </a:path>
            </a:pathLst>
          </a:cu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67050" y="11430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FFFFFF"/>
                </a:solidFill>
                <a:latin typeface="Microsoft YaHei"/>
                <a:ea typeface="Microsoft YaHei"/>
              </a:rPr>
              <a:t>② 定制RN开发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FFFFFF"/>
                </a:solidFill>
                <a:latin typeface="Microsoft YaHei"/>
                <a:ea typeface="Microsoft YaHei"/>
              </a:rPr>
              <a:t>研发工程文档负责人</a:t>
            </a:r>
          </a:p>
        </p:txBody>
      </p:sp>
      <p:sp>
        <p:nvSpPr>
          <p:cNvPr id="14" name="Freeform 13"/>
          <p:cNvSpPr/>
          <p:nvPr/>
        </p:nvSpPr>
        <p:spPr>
          <a:xfrm>
            <a:off x="4991100" y="1123950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114550" y="0"/>
                </a:lnTo>
                <a:lnTo>
                  <a:pt x="2286000" y="304800"/>
                </a:lnTo>
                <a:lnTo>
                  <a:pt x="2114550" y="609600"/>
                </a:lnTo>
                <a:lnTo>
                  <a:pt x="0" y="609600"/>
                </a:lnTo>
                <a:lnTo>
                  <a:pt x="171450" y="304800"/>
                </a:lnTo>
                <a:close/>
              </a:path>
            </a:pathLst>
          </a:cu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76850" y="11430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FFFFFF"/>
                </a:solidFill>
                <a:latin typeface="Microsoft YaHei"/>
                <a:ea typeface="Microsoft YaHei"/>
              </a:rPr>
              <a:t>③ 定制RN评审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FFFFFF"/>
                </a:solidFill>
                <a:latin typeface="Microsoft YaHei"/>
                <a:ea typeface="Microsoft YaHei"/>
              </a:rPr>
              <a:t>研发工程文档负责人</a:t>
            </a:r>
          </a:p>
        </p:txBody>
      </p:sp>
      <p:sp>
        <p:nvSpPr>
          <p:cNvPr id="16" name="Freeform 15"/>
          <p:cNvSpPr/>
          <p:nvPr/>
        </p:nvSpPr>
        <p:spPr>
          <a:xfrm>
            <a:off x="7200900" y="1123950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114550" y="0"/>
                </a:lnTo>
                <a:lnTo>
                  <a:pt x="2286000" y="304800"/>
                </a:lnTo>
                <a:lnTo>
                  <a:pt x="2114550" y="609600"/>
                </a:lnTo>
                <a:lnTo>
                  <a:pt x="0" y="609600"/>
                </a:lnTo>
                <a:lnTo>
                  <a:pt x="171450" y="304800"/>
                </a:lnTo>
                <a:close/>
              </a:path>
            </a:pathLst>
          </a:cu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86650" y="11430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FFFFFF"/>
                </a:solidFill>
                <a:latin typeface="Microsoft YaHei"/>
                <a:ea typeface="Microsoft YaHei"/>
              </a:rPr>
              <a:t>④ 定制RN发布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FFFFFF"/>
                </a:solidFill>
                <a:latin typeface="Microsoft YaHei"/>
                <a:ea typeface="Microsoft YaHei"/>
              </a:rPr>
              <a:t>研发工程文档负责人</a:t>
            </a:r>
          </a:p>
        </p:txBody>
      </p:sp>
      <p:sp>
        <p:nvSpPr>
          <p:cNvPr id="18" name="Freeform 17"/>
          <p:cNvSpPr/>
          <p:nvPr/>
        </p:nvSpPr>
        <p:spPr>
          <a:xfrm>
            <a:off x="9410700" y="1123950"/>
            <a:ext cx="2286000" cy="609600"/>
          </a:xfrm>
          <a:custGeom>
            <a:avLst/>
            <a:gdLst/>
            <a:ahLst/>
            <a:cxnLst/>
            <a:rect l="l" t="t" r="r" b="b"/>
            <a:pathLst>
              <a:path w="2286000" h="609600">
                <a:moveTo>
                  <a:pt x="0" y="0"/>
                </a:moveTo>
                <a:lnTo>
                  <a:pt x="2114550" y="0"/>
                </a:lnTo>
                <a:lnTo>
                  <a:pt x="2286000" y="304800"/>
                </a:lnTo>
                <a:lnTo>
                  <a:pt x="2114550" y="609600"/>
                </a:lnTo>
                <a:lnTo>
                  <a:pt x="0" y="609600"/>
                </a:lnTo>
                <a:lnTo>
                  <a:pt x="171450" y="304800"/>
                </a:lnTo>
                <a:close/>
              </a:path>
            </a:pathLst>
          </a:cu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6450" y="11430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FFFFFF"/>
                </a:solidFill>
                <a:latin typeface="Microsoft YaHei"/>
                <a:ea typeface="Microsoft YaHei"/>
              </a:rPr>
              <a:t>⑤ 客户交付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FFFFFF"/>
                </a:solidFill>
                <a:latin typeface="Microsoft YaHei"/>
                <a:ea typeface="Microsoft YaHei"/>
              </a:rPr>
              <a:t>交付项目TD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1847850"/>
            <a:ext cx="495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>
                <a:solidFill>
                  <a:srgbClr val="0FA3A3"/>
                </a:solidFill>
                <a:latin typeface="Microsoft YaHei"/>
                <a:ea typeface="Microsoft YaHei"/>
              </a:rPr>
              <a:t>触发阶段 · 系统自动建单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" y="2143125"/>
            <a:ext cx="1905000" cy="819150"/>
          </a:xfrm>
          <a:prstGeom prst="roundRect">
            <a:avLst>
              <a:gd name="adj" fmla="val 6976"/>
            </a:avLst>
          </a:prstGeom>
          <a:solidFill>
            <a:srgbClr val="E2F5F5"/>
          </a:solidFill>
          <a:ln w="11430">
            <a:solidFill>
              <a:srgbClr val="0FA3A3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6750" y="2181225"/>
            <a:ext cx="171450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1">
                <a:solidFill>
                  <a:srgbClr val="1F2D3D"/>
                </a:solidFill>
                <a:latin typeface="Microsoft YaHei"/>
                <a:ea typeface="Microsoft YaHei"/>
              </a:rPr>
              <a:t>iDOP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方案中心·方案模型开发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95550" y="2552700"/>
            <a:ext cx="323850" cy="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2857500" y="2143125"/>
            <a:ext cx="1905000" cy="819150"/>
          </a:xfrm>
          <a:prstGeom prst="roundRect">
            <a:avLst>
              <a:gd name="adj" fmla="val 6976"/>
            </a:avLst>
          </a:prstGeom>
          <a:solidFill>
            <a:srgbClr val="E2F5F5"/>
          </a:solidFill>
          <a:ln w="11430">
            <a:solidFill>
              <a:srgbClr val="0FA3A3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52750" y="2181225"/>
            <a:ext cx="171450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13"/>
              </a:lnSpc>
            </a:pPr>
            <a:r>
              <a:rPr sz="1087" b="1">
                <a:solidFill>
                  <a:srgbClr val="1F2D3D"/>
                </a:solidFill>
                <a:latin typeface="Microsoft YaHei"/>
                <a:ea typeface="Microsoft YaHei"/>
              </a:rPr>
              <a:t>RDC-ER</a:t>
            </a:r>
          </a:p>
          <a:p>
            <a:pPr algn="ctr">
              <a:lnSpc>
                <a:spcPts val="1413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自动创建ER单</a:t>
            </a:r>
          </a:p>
          <a:p>
            <a:pPr algn="ctr">
              <a:lnSpc>
                <a:spcPts val="1413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同步字段A/B/C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81550" y="2552700"/>
            <a:ext cx="323850" cy="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sp>
        <p:nvSpPr>
          <p:cNvPr id="27" name="Freeform 26"/>
          <p:cNvSpPr/>
          <p:nvPr/>
        </p:nvSpPr>
        <p:spPr>
          <a:xfrm>
            <a:off x="5124450" y="2114550"/>
            <a:ext cx="1562100" cy="876300"/>
          </a:xfrm>
          <a:custGeom>
            <a:avLst/>
            <a:gdLst/>
            <a:ahLst/>
            <a:cxnLst/>
            <a:rect l="l" t="t" r="r" b="b"/>
            <a:pathLst>
              <a:path w="1562100" h="876300">
                <a:moveTo>
                  <a:pt x="781050" y="0"/>
                </a:moveTo>
                <a:lnTo>
                  <a:pt x="1562100" y="438150"/>
                </a:lnTo>
                <a:lnTo>
                  <a:pt x="781050" y="876300"/>
                </a:lnTo>
                <a:lnTo>
                  <a:pt x="0" y="438150"/>
                </a:lnTo>
                <a:close/>
              </a:path>
            </a:pathLst>
          </a:cu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295900" y="2152650"/>
            <a:ext cx="1219200" cy="800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9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是否</a:t>
            </a:r>
          </a:p>
          <a:p>
            <a:pPr algn="ctr">
              <a:lnSpc>
                <a:spcPts val="1359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定制RN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86550" y="2552700"/>
            <a:ext cx="419100" cy="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6724650" y="227647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1F9D6B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0750" y="2990850"/>
            <a:ext cx="114300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37"/>
              </a:lnSpc>
            </a:pPr>
            <a:r>
              <a:rPr sz="937" b="0">
                <a:solidFill>
                  <a:srgbClr val="8A99A8"/>
                </a:solidFill>
                <a:latin typeface="Microsoft YaHei"/>
                <a:ea typeface="Microsoft YaHei"/>
              </a:rPr>
              <a:t>否：不触发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43750" y="2143125"/>
            <a:ext cx="2000250" cy="819150"/>
          </a:xfrm>
          <a:prstGeom prst="roundRect">
            <a:avLst>
              <a:gd name="adj" fmla="val 6976"/>
            </a:avLst>
          </a:pr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239000" y="2181225"/>
            <a:ext cx="180975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68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读配置</a:t>
            </a:r>
          </a:p>
          <a:p>
            <a:pPr algn="ctr">
              <a:lnSpc>
                <a:spcPts val="1468"/>
              </a:lnSpc>
            </a:pPr>
            <a:r>
              <a:rPr sz="1087" b="0">
                <a:solidFill>
                  <a:srgbClr val="1F2D3D"/>
                </a:solidFill>
                <a:latin typeface="Microsoft YaHei"/>
                <a:ea typeface="Microsoft YaHei"/>
              </a:rPr>
              <a:t>写入“定制RN作者”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63050" y="2552700"/>
            <a:ext cx="323850" cy="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9525000" y="2143125"/>
            <a:ext cx="2095500" cy="819150"/>
          </a:xfrm>
          <a:prstGeom prst="roundRect">
            <a:avLst>
              <a:gd name="adj" fmla="val 6976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20250" y="2181225"/>
            <a:ext cx="1905000" cy="742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18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飞轮</a:t>
            </a:r>
          </a:p>
          <a:p>
            <a:pPr algn="ctr">
              <a:lnSpc>
                <a:spcPts val="1518"/>
              </a:lnSpc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创建RDC文档工作项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3067050"/>
            <a:ext cx="4572000" cy="400050"/>
          </a:xfrm>
          <a:prstGeom prst="roundRect">
            <a:avLst>
              <a:gd name="adj" fmla="val 14285"/>
            </a:avLst>
          </a:prstGeom>
          <a:solidFill>
            <a:srgbClr val="FCED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4850" y="3067050"/>
            <a:ext cx="4381500" cy="400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14"/>
              </a:lnSpc>
            </a:pP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勾选字段：</a:t>
            </a:r>
            <a:r>
              <a:rPr sz="1012" b="1">
                <a:solidFill>
                  <a:srgbClr val="D9483B"/>
                </a:solidFill>
                <a:latin typeface="Microsoft YaHei"/>
                <a:ea typeface="Microsoft YaHei"/>
              </a:rPr>
              <a:t>A</a:t>
            </a: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 是否定制RN   </a:t>
            </a:r>
            <a:r>
              <a:rPr sz="1012" b="1">
                <a:solidFill>
                  <a:srgbClr val="D9483B"/>
                </a:solidFill>
                <a:latin typeface="Microsoft YaHei"/>
                <a:ea typeface="Microsoft YaHei"/>
              </a:rPr>
              <a:t>B</a:t>
            </a: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 定制RN是否英化   </a:t>
            </a:r>
            <a:r>
              <a:rPr sz="1012" b="1">
                <a:solidFill>
                  <a:srgbClr val="D9483B"/>
                </a:solidFill>
                <a:latin typeface="Microsoft YaHei"/>
                <a:ea typeface="Microsoft YaHei"/>
              </a:rPr>
              <a:t>C</a:t>
            </a: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 定制RN具体需求</a:t>
            </a:r>
          </a:p>
        </p:txBody>
      </p:sp>
      <p:sp>
        <p:nvSpPr>
          <p:cNvPr id="39" name="Freeform 38"/>
          <p:cNvSpPr/>
          <p:nvPr/>
        </p:nvSpPr>
        <p:spPr>
          <a:xfrm>
            <a:off x="1238250" y="2962275"/>
            <a:ext cx="9334500" cy="1590675"/>
          </a:xfrm>
          <a:custGeom>
            <a:avLst/>
            <a:gdLst/>
            <a:ahLst/>
            <a:cxnLst/>
            <a:rect l="l" t="t" r="r" b="b"/>
            <a:pathLst>
              <a:path w="9334500" h="1590675">
                <a:moveTo>
                  <a:pt x="9334500" y="0"/>
                </a:moveTo>
                <a:lnTo>
                  <a:pt x="9334500" y="771525"/>
                </a:lnTo>
                <a:lnTo>
                  <a:pt x="0" y="771525"/>
                </a:lnTo>
                <a:lnTo>
                  <a:pt x="0" y="1590675"/>
                </a:lnTo>
              </a:path>
            </a:pathLst>
          </a:custGeom>
          <a:noFill/>
          <a:ln w="20955">
            <a:solidFill>
              <a:srgbClr val="0085CC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71500" y="3905250"/>
            <a:ext cx="11049000" cy="1809750"/>
          </a:xfrm>
          <a:prstGeom prst="roundRect">
            <a:avLst>
              <a:gd name="adj" fmla="val 5263"/>
            </a:avLst>
          </a:prstGeom>
          <a:solidFill>
            <a:srgbClr val="FBF3E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29500" y="3981450"/>
            <a:ext cx="4048125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125"/>
              </a:lnSpc>
            </a:pPr>
            <a:r>
              <a:rPr sz="1125" b="1">
                <a:solidFill>
                  <a:srgbClr val="E8892B"/>
                </a:solidFill>
                <a:latin typeface="Microsoft YaHei"/>
                <a:ea typeface="Microsoft YaHei"/>
              </a:rPr>
              <a:t>RDC文档工作项 · 状态翻转由飞轮控制</a:t>
            </a:r>
          </a:p>
        </p:txBody>
      </p:sp>
      <p:sp>
        <p:nvSpPr>
          <p:cNvPr id="42" name="Oval 41"/>
          <p:cNvSpPr/>
          <p:nvPr/>
        </p:nvSpPr>
        <p:spPr>
          <a:xfrm>
            <a:off x="89535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1440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新建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59067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45" name="Oval 44"/>
          <p:cNvSpPr/>
          <p:nvPr/>
        </p:nvSpPr>
        <p:spPr>
          <a:xfrm>
            <a:off x="251460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53365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开始</a:t>
            </a:r>
          </a:p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内容开发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20992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48" name="Oval 47"/>
          <p:cNvSpPr/>
          <p:nvPr/>
        </p:nvSpPr>
        <p:spPr>
          <a:xfrm>
            <a:off x="413385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15290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完成</a:t>
            </a:r>
          </a:p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内容开发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82917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51" name="Oval 50"/>
          <p:cNvSpPr/>
          <p:nvPr/>
        </p:nvSpPr>
        <p:spPr>
          <a:xfrm>
            <a:off x="575310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7215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开始</a:t>
            </a:r>
          </a:p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评审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4842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54" name="Oval 53"/>
          <p:cNvSpPr/>
          <p:nvPr/>
        </p:nvSpPr>
        <p:spPr>
          <a:xfrm>
            <a:off x="737235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39140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评审</a:t>
            </a:r>
          </a:p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通过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6767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57" name="Oval 56"/>
          <p:cNvSpPr/>
          <p:nvPr/>
        </p:nvSpPr>
        <p:spPr>
          <a:xfrm>
            <a:off x="899160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01065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可交付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686925" y="4876800"/>
            <a:ext cx="895350" cy="0"/>
          </a:xfrm>
          <a:prstGeom prst="line">
            <a:avLst/>
          </a:prstGeom>
          <a:ln w="19050">
            <a:solidFill>
              <a:srgbClr val="0085CC"/>
            </a:solidFill>
            <a:round/>
            <a:tailEnd type="triangle" w="med" len="med"/>
          </a:ln>
        </p:spPr>
      </p:cxnSp>
      <p:sp>
        <p:nvSpPr>
          <p:cNvPr id="60" name="Oval 59"/>
          <p:cNvSpPr/>
          <p:nvPr/>
        </p:nvSpPr>
        <p:spPr>
          <a:xfrm>
            <a:off x="10610850" y="4533900"/>
            <a:ext cx="685800" cy="6858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629900" y="4552950"/>
            <a:ext cx="6477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1">
                <a:solidFill>
                  <a:srgbClr val="0B3A5B"/>
                </a:solidFill>
                <a:latin typeface="Microsoft YaHei"/>
                <a:ea typeface="Microsoft YaHei"/>
              </a:rPr>
              <a:t>已交付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6750" y="5334000"/>
            <a:ext cx="4381500" cy="47625"/>
          </a:xfrm>
          <a:prstGeom prst="roundRect">
            <a:avLst>
              <a:gd name="adj" fmla="val 40000"/>
            </a:avLst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66750" y="54102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② 开发：文档编写任务驱动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524500" y="5334000"/>
            <a:ext cx="2762250" cy="47625"/>
          </a:xfrm>
          <a:prstGeom prst="roundRect">
            <a:avLst>
              <a:gd name="adj" fmla="val 40000"/>
            </a:avLst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524500" y="5410200"/>
            <a:ext cx="2762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③ 评审：文档评审任务驱动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63000" y="5334000"/>
            <a:ext cx="1143000" cy="47625"/>
          </a:xfrm>
          <a:prstGeom prst="roundRect">
            <a:avLst>
              <a:gd name="adj" fmla="val 40000"/>
            </a:avLst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763000" y="54102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④ 发布：附件校验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82250" y="5334000"/>
            <a:ext cx="1143000" cy="47625"/>
          </a:xfrm>
          <a:prstGeom prst="roundRect">
            <a:avLst>
              <a:gd name="adj" fmla="val 40000"/>
            </a:avLst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10382250" y="54102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75"/>
              </a:lnSpc>
            </a:pPr>
            <a:r>
              <a:rPr sz="975" b="1">
                <a:solidFill>
                  <a:srgbClr val="E8892B"/>
                </a:solidFill>
                <a:latin typeface="Microsoft YaHei"/>
                <a:ea typeface="Microsoft YaHei"/>
              </a:rPr>
              <a:t>⑤ 交付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71500" y="5829300"/>
            <a:ext cx="5429250" cy="571500"/>
          </a:xfrm>
          <a:prstGeom prst="roundRect">
            <a:avLst>
              <a:gd name="adj" fmla="val 13333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2950" y="582930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7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任务驱动</a:t>
            </a: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  文档编写/评审任务的Active、Closed状态自动翻转工作项状态，无需人工推进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1250" y="5829300"/>
            <a:ext cx="5429250" cy="571500"/>
          </a:xfrm>
          <a:prstGeom prst="roundRect">
            <a:avLst>
              <a:gd name="adj" fmla="val 13333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362700" y="582930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7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自动闭环</a:t>
            </a: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  附件与英化自动校验通过即“可交付”，飞轮邮件通知需求提交人（中英双语）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关键设计：任务驱动状态流转，质量门禁自动校验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03 解决方案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10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43000"/>
            <a:ext cx="11049000" cy="1047750"/>
          </a:xfrm>
          <a:prstGeom prst="roundRect">
            <a:avLst>
              <a:gd name="adj" fmla="val 9090"/>
            </a:avLst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1525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0575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新建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28750" y="1666875"/>
            <a:ext cx="74295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14" name="Oval 13"/>
          <p:cNvSpPr/>
          <p:nvPr/>
        </p:nvSpPr>
        <p:spPr>
          <a:xfrm>
            <a:off x="2200275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219325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开始</a:t>
            </a:r>
          </a:p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内容开发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57500" y="1666875"/>
            <a:ext cx="74295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17" name="Oval 16"/>
          <p:cNvSpPr/>
          <p:nvPr/>
        </p:nvSpPr>
        <p:spPr>
          <a:xfrm>
            <a:off x="3629025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48075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完成</a:t>
            </a:r>
          </a:p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内容开发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86250" y="1666875"/>
            <a:ext cx="885825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20" name="Oval 19"/>
          <p:cNvSpPr/>
          <p:nvPr/>
        </p:nvSpPr>
        <p:spPr>
          <a:xfrm>
            <a:off x="5200650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19700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开始</a:t>
            </a:r>
          </a:p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评审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57875" y="1666875"/>
            <a:ext cx="6477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23" name="Oval 22"/>
          <p:cNvSpPr/>
          <p:nvPr/>
        </p:nvSpPr>
        <p:spPr>
          <a:xfrm>
            <a:off x="6534150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3200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评审</a:t>
            </a:r>
          </a:p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通过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91375" y="1666875"/>
            <a:ext cx="131445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26" name="Oval 25"/>
          <p:cNvSpPr/>
          <p:nvPr/>
        </p:nvSpPr>
        <p:spPr>
          <a:xfrm>
            <a:off x="8534400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53450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可交付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91625" y="1666875"/>
            <a:ext cx="131445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29" name="Oval 28"/>
          <p:cNvSpPr/>
          <p:nvPr/>
        </p:nvSpPr>
        <p:spPr>
          <a:xfrm>
            <a:off x="10534650" y="1343025"/>
            <a:ext cx="647700" cy="6477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1F9D6B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53700" y="1362075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71"/>
              </a:lnSpc>
            </a:pPr>
            <a:r>
              <a:rPr sz="937" b="1">
                <a:solidFill>
                  <a:srgbClr val="0B3A5B"/>
                </a:solidFill>
                <a:latin typeface="Microsoft YaHei"/>
                <a:ea typeface="Microsoft YaHei"/>
              </a:rPr>
              <a:t>已交付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24125" y="2009775"/>
            <a:ext cx="0" cy="409575"/>
          </a:xfrm>
          <a:prstGeom prst="line">
            <a:avLst/>
          </a:prstGeom>
          <a:ln w="14288">
            <a:solidFill>
              <a:srgbClr val="0085CC"/>
            </a:solidFill>
            <a:prstDash val="dash"/>
            <a:round/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6191250" y="2009775"/>
            <a:ext cx="0" cy="409575"/>
          </a:xfrm>
          <a:prstGeom prst="line">
            <a:avLst/>
          </a:prstGeom>
          <a:ln w="14288">
            <a:solidFill>
              <a:srgbClr val="0085CC"/>
            </a:solidFill>
            <a:prstDash val="dash"/>
            <a:round/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8858250" y="2009775"/>
            <a:ext cx="0" cy="409575"/>
          </a:xfrm>
          <a:prstGeom prst="line">
            <a:avLst/>
          </a:prstGeom>
          <a:ln w="14288">
            <a:solidFill>
              <a:srgbClr val="E8892B"/>
            </a:solidFill>
            <a:prstDash val="dash"/>
            <a:round/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10858500" y="2009775"/>
            <a:ext cx="0" cy="409575"/>
          </a:xfrm>
          <a:prstGeom prst="line">
            <a:avLst/>
          </a:prstGeom>
          <a:ln w="14288">
            <a:solidFill>
              <a:srgbClr val="1F9D6B"/>
            </a:solidFill>
            <a:prstDash val="dash"/>
            <a:round/>
            <a:tailEnd type="triangle" w="med" len="med"/>
          </a:ln>
        </p:spPr>
      </p:cxnSp>
      <p:sp>
        <p:nvSpPr>
          <p:cNvPr id="35" name="Rounded Rectangle 34"/>
          <p:cNvSpPr/>
          <p:nvPr/>
        </p:nvSpPr>
        <p:spPr>
          <a:xfrm>
            <a:off x="571500" y="2457450"/>
            <a:ext cx="3905250" cy="39243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71500" y="2457450"/>
            <a:ext cx="3905250" cy="419100"/>
          </a:xfrm>
          <a:prstGeom prst="roundRect">
            <a:avLst>
              <a:gd name="adj" fmla="val 22727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" y="2724150"/>
            <a:ext cx="3905250" cy="152400"/>
          </a:xfrm>
          <a:prstGeom prst="rect">
            <a:avLst/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23900" y="2457450"/>
            <a:ext cx="360045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085CC"/>
                </a:solidFill>
                <a:latin typeface="Microsoft YaHei"/>
                <a:ea typeface="Microsoft YaHei"/>
              </a:rPr>
              <a:t>文档编写任务 → 驱动开发状态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2000" y="3095625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2000" y="3095625"/>
            <a:ext cx="8763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Active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76400" y="3238500"/>
            <a:ext cx="2286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1962150" y="3057525"/>
            <a:ext cx="23622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工作项翻转为“开始内容开发”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2000" y="4143375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2000" y="4143375"/>
            <a:ext cx="8763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Closed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676400" y="4286250"/>
            <a:ext cx="2286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46" name="TextBox 45"/>
          <p:cNvSpPr txBox="1"/>
          <p:nvPr/>
        </p:nvSpPr>
        <p:spPr>
          <a:xfrm>
            <a:off x="1962150" y="4105275"/>
            <a:ext cx="23622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校验“文档任务输出字段链接”有效 → “完成内容开发”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2000" y="5191125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D9483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62000" y="5191125"/>
            <a:ext cx="8763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Removed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76400" y="5334000"/>
            <a:ext cx="2286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50" name="TextBox 49"/>
          <p:cNvSpPr txBox="1"/>
          <p:nvPr/>
        </p:nvSpPr>
        <p:spPr>
          <a:xfrm>
            <a:off x="1962150" y="5153025"/>
            <a:ext cx="23622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任务被移除 → 退回重新创建编写任务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62500" y="2457450"/>
            <a:ext cx="2857500" cy="3924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762500" y="2457450"/>
            <a:ext cx="2857500" cy="419100"/>
          </a:xfrm>
          <a:prstGeom prst="roundRect">
            <a:avLst>
              <a:gd name="adj" fmla="val 22727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762500" y="2724150"/>
            <a:ext cx="2857500" cy="152400"/>
          </a:xfrm>
          <a:prstGeom prst="rect">
            <a:avLst/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914900" y="2457450"/>
            <a:ext cx="25527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085CC"/>
                </a:solidFill>
                <a:latin typeface="Microsoft YaHei"/>
                <a:ea typeface="Microsoft YaHei"/>
              </a:rPr>
              <a:t>文档评审任务 → 驱动评审状态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53000" y="3095625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953000" y="3095625"/>
            <a:ext cx="8763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Active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67400" y="3238500"/>
            <a:ext cx="2286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58" name="TextBox 57"/>
          <p:cNvSpPr txBox="1"/>
          <p:nvPr/>
        </p:nvSpPr>
        <p:spPr>
          <a:xfrm>
            <a:off x="6153150" y="3057525"/>
            <a:ext cx="1381125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工作项翻转为</a:t>
            </a:r>
          </a:p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“开始评审”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53000" y="4143375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953000" y="4143375"/>
            <a:ext cx="8763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Closed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67400" y="4286250"/>
            <a:ext cx="228600" cy="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62" name="TextBox 61"/>
          <p:cNvSpPr txBox="1"/>
          <p:nvPr/>
        </p:nvSpPr>
        <p:spPr>
          <a:xfrm>
            <a:off x="6153150" y="4105275"/>
            <a:ext cx="1381125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工作项翻转为</a:t>
            </a:r>
          </a:p>
          <a:p>
            <a:pPr algn="l">
              <a:lnSpc>
                <a:spcPts val="1631"/>
              </a:lnSpc>
            </a:pPr>
            <a:r>
              <a:rPr sz="1125" b="0">
                <a:solidFill>
                  <a:srgbClr val="1F2D3D"/>
                </a:solidFill>
                <a:latin typeface="Microsoft YaHei"/>
                <a:ea typeface="Microsoft YaHei"/>
              </a:rPr>
              <a:t>“评审通过”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53000" y="5286375"/>
            <a:ext cx="2495550" cy="952500"/>
          </a:xfrm>
          <a:prstGeom prst="roundRect">
            <a:avLst>
              <a:gd name="adj" fmla="val 8000"/>
            </a:avLst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105400" y="5362575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状态翻转由飞轮自动控制，作者只需处理自己的任务，进度实时可见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05750" y="2457450"/>
            <a:ext cx="1905000" cy="3924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7905750" y="2457450"/>
            <a:ext cx="1905000" cy="419100"/>
          </a:xfrm>
          <a:prstGeom prst="roundRect">
            <a:avLst>
              <a:gd name="adj" fmla="val 22727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905750" y="2724150"/>
            <a:ext cx="1905000" cy="152400"/>
          </a:xfrm>
          <a:prstGeom prst="rect">
            <a:avLst/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058150" y="2457450"/>
            <a:ext cx="16002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E8892B"/>
                </a:solidFill>
                <a:latin typeface="Microsoft YaHei"/>
                <a:ea typeface="Microsoft YaHei"/>
              </a:rPr>
              <a:t>交付门禁 · 自动校验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8625" y="2971800"/>
            <a:ext cx="1619250" cy="476250"/>
          </a:xfrm>
          <a:prstGeom prst="roundRect">
            <a:avLst>
              <a:gd name="adj" fmla="val 12000"/>
            </a:avLst>
          </a:pr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8143875" y="30099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7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提交附件到工作项“描述”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858250" y="3448050"/>
            <a:ext cx="0" cy="152400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72" name="Freeform 71"/>
          <p:cNvSpPr/>
          <p:nvPr/>
        </p:nvSpPr>
        <p:spPr>
          <a:xfrm>
            <a:off x="8048625" y="3609975"/>
            <a:ext cx="1619250" cy="628650"/>
          </a:xfrm>
          <a:custGeom>
            <a:avLst/>
            <a:gdLst/>
            <a:ahLst/>
            <a:cxnLst/>
            <a:rect l="l" t="t" r="r" b="b"/>
            <a:pathLst>
              <a:path w="1619250" h="628650">
                <a:moveTo>
                  <a:pt x="809625" y="0"/>
                </a:moveTo>
                <a:lnTo>
                  <a:pt x="1619250" y="314325"/>
                </a:lnTo>
                <a:lnTo>
                  <a:pt x="809625" y="628650"/>
                </a:lnTo>
                <a:lnTo>
                  <a:pt x="0" y="314325"/>
                </a:lnTo>
                <a:close/>
              </a:path>
            </a:pathLst>
          </a:cu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220075" y="3648075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描述字段</a:t>
            </a:r>
          </a:p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有附件？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858250" y="4238625"/>
            <a:ext cx="0" cy="161925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8915400" y="4229100"/>
            <a:ext cx="28575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1">
                <a:solidFill>
                  <a:srgbClr val="1F9D6B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76" name="Freeform 75"/>
          <p:cNvSpPr/>
          <p:nvPr/>
        </p:nvSpPr>
        <p:spPr>
          <a:xfrm>
            <a:off x="8048625" y="4410075"/>
            <a:ext cx="1619250" cy="628650"/>
          </a:xfrm>
          <a:custGeom>
            <a:avLst/>
            <a:gdLst/>
            <a:ahLst/>
            <a:cxnLst/>
            <a:rect l="l" t="t" r="r" b="b"/>
            <a:pathLst>
              <a:path w="1619250" h="628650">
                <a:moveTo>
                  <a:pt x="809625" y="0"/>
                </a:moveTo>
                <a:lnTo>
                  <a:pt x="1619250" y="314325"/>
                </a:lnTo>
                <a:lnTo>
                  <a:pt x="809625" y="628650"/>
                </a:lnTo>
                <a:lnTo>
                  <a:pt x="0" y="314325"/>
                </a:lnTo>
                <a:close/>
              </a:path>
            </a:pathLst>
          </a:cu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220075" y="4448175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定制RN</a:t>
            </a:r>
          </a:p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是否英化？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858250" y="5038725"/>
            <a:ext cx="0" cy="161925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79" name="TextBox 78"/>
          <p:cNvSpPr txBox="1"/>
          <p:nvPr/>
        </p:nvSpPr>
        <p:spPr>
          <a:xfrm>
            <a:off x="8915400" y="5029200"/>
            <a:ext cx="28575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1">
                <a:solidFill>
                  <a:srgbClr val="1F9D6B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80" name="Freeform 79"/>
          <p:cNvSpPr/>
          <p:nvPr/>
        </p:nvSpPr>
        <p:spPr>
          <a:xfrm>
            <a:off x="8048625" y="5210175"/>
            <a:ext cx="1619250" cy="628650"/>
          </a:xfrm>
          <a:custGeom>
            <a:avLst/>
            <a:gdLst/>
            <a:ahLst/>
            <a:cxnLst/>
            <a:rect l="l" t="t" r="r" b="b"/>
            <a:pathLst>
              <a:path w="1619250" h="628650">
                <a:moveTo>
                  <a:pt x="809625" y="0"/>
                </a:moveTo>
                <a:lnTo>
                  <a:pt x="1619250" y="314325"/>
                </a:lnTo>
                <a:lnTo>
                  <a:pt x="809625" y="628650"/>
                </a:lnTo>
                <a:lnTo>
                  <a:pt x="0" y="314325"/>
                </a:lnTo>
                <a:close/>
              </a:path>
            </a:pathLst>
          </a:custGeom>
          <a:solidFill>
            <a:srgbClr val="FBF3E3"/>
          </a:solidFill>
          <a:ln w="11430">
            <a:solidFill>
              <a:srgbClr val="E8892B"/>
            </a:solidFill>
          </a:ln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8220075" y="5248275"/>
            <a:ext cx="1276350" cy="552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附件为</a:t>
            </a:r>
          </a:p>
          <a:p>
            <a:pPr algn="ctr">
              <a:lnSpc>
                <a:spcPts val="1218"/>
              </a:lnSpc>
            </a:pPr>
            <a:r>
              <a:rPr sz="975" b="0">
                <a:solidFill>
                  <a:srgbClr val="1F2D3D"/>
                </a:solidFill>
                <a:latin typeface="Microsoft YaHei"/>
                <a:ea typeface="Microsoft YaHei"/>
              </a:rPr>
              <a:t>英文？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858250" y="5838825"/>
            <a:ext cx="0" cy="123825"/>
          </a:xfrm>
          <a:prstGeom prst="line">
            <a:avLst/>
          </a:prstGeom>
          <a:ln w="17145">
            <a:solidFill>
              <a:srgbClr val="7B8794"/>
            </a:solidFill>
            <a:round/>
            <a:tailEnd type="triangle" w="med" len="med"/>
          </a:ln>
        </p:spPr>
      </p:cxnSp>
      <p:sp>
        <p:nvSpPr>
          <p:cNvPr id="83" name="Rounded Rectangle 82"/>
          <p:cNvSpPr/>
          <p:nvPr/>
        </p:nvSpPr>
        <p:spPr>
          <a:xfrm>
            <a:off x="8286750" y="59817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8382000" y="6019800"/>
            <a:ext cx="9525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7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可交付</a:t>
            </a:r>
          </a:p>
        </p:txBody>
      </p:sp>
      <p:sp>
        <p:nvSpPr>
          <p:cNvPr id="85" name="Freeform 84"/>
          <p:cNvSpPr/>
          <p:nvPr/>
        </p:nvSpPr>
        <p:spPr>
          <a:xfrm>
            <a:off x="9448800" y="4724400"/>
            <a:ext cx="285750" cy="1419225"/>
          </a:xfrm>
          <a:custGeom>
            <a:avLst/>
            <a:gdLst/>
            <a:ahLst/>
            <a:cxnLst/>
            <a:rect l="l" t="t" r="r" b="b"/>
            <a:pathLst>
              <a:path w="285750" h="1419225">
                <a:moveTo>
                  <a:pt x="219075" y="0"/>
                </a:moveTo>
                <a:lnTo>
                  <a:pt x="285750" y="0"/>
                </a:lnTo>
                <a:lnTo>
                  <a:pt x="285750" y="1419225"/>
                </a:lnTo>
                <a:lnTo>
                  <a:pt x="0" y="1419225"/>
                </a:lnTo>
              </a:path>
            </a:pathLst>
          </a:custGeom>
          <a:noFill/>
          <a:ln w="14288">
            <a:solidFill>
              <a:srgbClr val="1F9D6B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25000" y="4514850"/>
            <a:ext cx="2667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900"/>
              </a:lnSpc>
            </a:pPr>
            <a:r>
              <a:rPr sz="900" b="1">
                <a:solidFill>
                  <a:srgbClr val="1F9D6B"/>
                </a:solidFill>
                <a:latin typeface="Microsoft YaHei"/>
                <a:ea typeface="Microsoft YaHei"/>
              </a:rPr>
              <a:t>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43850" y="363855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1">
                <a:solidFill>
                  <a:srgbClr val="D9483B"/>
                </a:solidFill>
                <a:latin typeface="Microsoft YaHei"/>
                <a:ea typeface="Microsoft YaHei"/>
              </a:rPr>
              <a:t>否退回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43850" y="5238750"/>
            <a:ext cx="4191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1">
                <a:solidFill>
                  <a:srgbClr val="D9483B"/>
                </a:solidFill>
                <a:latin typeface="Microsoft YaHei"/>
                <a:ea typeface="Microsoft YaHei"/>
              </a:rPr>
              <a:t>否退回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096500" y="2457450"/>
            <a:ext cx="1524000" cy="39243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3E2EC"/>
            </a:solidFill>
          </a:ln>
        </p:spPr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10096500" y="2457450"/>
            <a:ext cx="1524000" cy="419100"/>
          </a:xfrm>
          <a:prstGeom prst="roundRect">
            <a:avLst>
              <a:gd name="adj" fmla="val 22727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0096500" y="2724150"/>
            <a:ext cx="1524000" cy="152400"/>
          </a:xfrm>
          <a:prstGeom prst="rect">
            <a:avLst/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10248900" y="2457450"/>
            <a:ext cx="12192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1F9D6B"/>
                </a:solidFill>
                <a:latin typeface="Microsoft YaHei"/>
                <a:ea typeface="Microsoft YaHei"/>
              </a:rPr>
              <a:t>邮件通知 · 闭环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572750" y="3067050"/>
            <a:ext cx="571500" cy="4000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9050">
            <a:solidFill>
              <a:srgbClr val="1F9D6B"/>
            </a:solidFill>
          </a:ln>
        </p:spPr>
        <p:txBody>
          <a:bodyPr rtlCol="0" anchor="ctr"/>
          <a:lstStyle/>
          <a:p/>
        </p:txBody>
      </p:sp>
      <p:sp>
        <p:nvSpPr>
          <p:cNvPr id="94" name="Freeform 93"/>
          <p:cNvSpPr/>
          <p:nvPr/>
        </p:nvSpPr>
        <p:spPr>
          <a:xfrm>
            <a:off x="10572750" y="3086100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0" y="0"/>
                </a:moveTo>
                <a:lnTo>
                  <a:pt x="285750" y="209550"/>
                </a:lnTo>
                <a:lnTo>
                  <a:pt x="571500" y="0"/>
                </a:lnTo>
              </a:path>
            </a:pathLst>
          </a:custGeom>
          <a:noFill/>
          <a:ln w="19050">
            <a:solidFill>
              <a:srgbClr val="1F9D6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29850" y="3600450"/>
            <a:ext cx="1276350" cy="666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8"/>
              </a:lnSpc>
            </a:pP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飞轮给项目负责人发邮件，通知需求提交人任务完成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229850" y="4400550"/>
            <a:ext cx="1276350" cy="1866900"/>
          </a:xfrm>
          <a:prstGeom prst="roundRect">
            <a:avLst>
              <a:gd name="adj" fmla="val 4477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0325100" y="4476750"/>
            <a:ext cx="1104900" cy="1733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37" b="0">
                <a:solidFill>
                  <a:srgbClr val="4F5F6F"/>
                </a:solidFill>
                <a:latin typeface="Microsoft YaHei"/>
                <a:ea typeface="Microsoft YaHei"/>
              </a:rPr>
              <a:t>“您提交的定制ReleaseNotes需求（用户文档标识链接）任务已完成，请联系“定制RN作者”获取。”</a:t>
            </a:r>
          </a:p>
          <a:p>
            <a:pPr algn="l">
              <a:lnSpc>
                <a:spcPts val="1359"/>
              </a:lnSpc>
            </a:pPr>
            <a:r>
              <a:rPr sz="937" b="1">
                <a:solidFill>
                  <a:srgbClr val="1F9D6B"/>
                </a:solidFill>
                <a:latin typeface="Microsoft YaHei"/>
                <a:ea typeface="Microsoft YaHei"/>
              </a:rPr>
              <a:t>中英双语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落地进展：方案已评审，工具链需求全面提交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0085CC"/>
                </a:solidFill>
                <a:latin typeface="Microsoft YaHei"/>
                <a:ea typeface="Microsoft YaHei"/>
              </a:rPr>
              <a:t>03 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端到端流程方案已通过评审，已向RDC、飞轮、iDOP等工具链系统提交需求，预计26年Q3全流程贯通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11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200150"/>
            <a:ext cx="28575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里程碑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7250" y="1666875"/>
            <a:ext cx="0" cy="4429125"/>
          </a:xfrm>
          <a:prstGeom prst="line">
            <a:avLst/>
          </a:prstGeom>
          <a:ln w="28575">
            <a:solidFill>
              <a:srgbClr val="D3E2EC"/>
            </a:solidFill>
            <a:round/>
          </a:ln>
        </p:spPr>
      </p:cxnSp>
      <p:sp>
        <p:nvSpPr>
          <p:cNvPr id="13" name="Oval 12"/>
          <p:cNvSpPr/>
          <p:nvPr/>
        </p:nvSpPr>
        <p:spPr>
          <a:xfrm>
            <a:off x="723900" y="1533525"/>
            <a:ext cx="266700" cy="2667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Freeform 13"/>
          <p:cNvSpPr/>
          <p:nvPr/>
        </p:nvSpPr>
        <p:spPr>
          <a:xfrm>
            <a:off x="797242" y="1620202"/>
            <a:ext cx="126683" cy="97156"/>
          </a:xfrm>
          <a:custGeom>
            <a:avLst/>
            <a:gdLst/>
            <a:ahLst/>
            <a:cxnLst/>
            <a:rect l="l" t="t" r="r" b="b"/>
            <a:pathLst>
              <a:path w="126683" h="97156">
                <a:moveTo>
                  <a:pt x="0" y="46673"/>
                </a:moveTo>
                <a:lnTo>
                  <a:pt x="46673" y="97156"/>
                </a:lnTo>
                <a:lnTo>
                  <a:pt x="126683" y="0"/>
                </a:lnTo>
              </a:path>
            </a:pathLst>
          </a:custGeom>
          <a:noFill/>
          <a:ln w="2667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151447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端到端流程方案通过评审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7907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理解业务本质与全流程操作后完善设计</a:t>
            </a:r>
          </a:p>
        </p:txBody>
      </p:sp>
      <p:sp>
        <p:nvSpPr>
          <p:cNvPr id="17" name="Oval 16"/>
          <p:cNvSpPr/>
          <p:nvPr/>
        </p:nvSpPr>
        <p:spPr>
          <a:xfrm>
            <a:off x="723900" y="2419350"/>
            <a:ext cx="266700" cy="2667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Freeform 17"/>
          <p:cNvSpPr/>
          <p:nvPr/>
        </p:nvSpPr>
        <p:spPr>
          <a:xfrm>
            <a:off x="797242" y="2506028"/>
            <a:ext cx="126683" cy="97154"/>
          </a:xfrm>
          <a:custGeom>
            <a:avLst/>
            <a:gdLst/>
            <a:ahLst/>
            <a:cxnLst/>
            <a:rect l="l" t="t" r="r" b="b"/>
            <a:pathLst>
              <a:path w="126683" h="97154">
                <a:moveTo>
                  <a:pt x="0" y="46672"/>
                </a:moveTo>
                <a:lnTo>
                  <a:pt x="46673" y="97154"/>
                </a:lnTo>
                <a:lnTo>
                  <a:pt x="126683" y="0"/>
                </a:lnTo>
              </a:path>
            </a:pathLst>
          </a:custGeom>
          <a:noFill/>
          <a:ln w="2667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4003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向RDC、飞轮、iDOP提交工具链需求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765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三个系统同步立项改造</a:t>
            </a:r>
          </a:p>
        </p:txBody>
      </p:sp>
      <p:sp>
        <p:nvSpPr>
          <p:cNvPr id="21" name="Oval 20"/>
          <p:cNvSpPr/>
          <p:nvPr/>
        </p:nvSpPr>
        <p:spPr>
          <a:xfrm>
            <a:off x="723900" y="3305175"/>
            <a:ext cx="266700" cy="2667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Freeform 21"/>
          <p:cNvSpPr/>
          <p:nvPr/>
        </p:nvSpPr>
        <p:spPr>
          <a:xfrm>
            <a:off x="797242" y="3391852"/>
            <a:ext cx="126683" cy="97156"/>
          </a:xfrm>
          <a:custGeom>
            <a:avLst/>
            <a:gdLst/>
            <a:ahLst/>
            <a:cxnLst/>
            <a:rect l="l" t="t" r="r" b="b"/>
            <a:pathLst>
              <a:path w="126683" h="97156">
                <a:moveTo>
                  <a:pt x="0" y="46673"/>
                </a:moveTo>
                <a:lnTo>
                  <a:pt x="46673" y="97156"/>
                </a:lnTo>
                <a:lnTo>
                  <a:pt x="126683" y="0"/>
                </a:lnTo>
              </a:path>
            </a:pathLst>
          </a:custGeom>
          <a:noFill/>
          <a:ln w="2667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28612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iDOP上线定制RN需求字段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623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升级方案申请时即可勾选</a:t>
            </a:r>
          </a:p>
        </p:txBody>
      </p:sp>
      <p:sp>
        <p:nvSpPr>
          <p:cNvPr id="25" name="Oval 24"/>
          <p:cNvSpPr/>
          <p:nvPr/>
        </p:nvSpPr>
        <p:spPr>
          <a:xfrm>
            <a:off x="723900" y="4191000"/>
            <a:ext cx="266700" cy="2667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Freeform 25"/>
          <p:cNvSpPr/>
          <p:nvPr/>
        </p:nvSpPr>
        <p:spPr>
          <a:xfrm>
            <a:off x="797242" y="4277678"/>
            <a:ext cx="126683" cy="97154"/>
          </a:xfrm>
          <a:custGeom>
            <a:avLst/>
            <a:gdLst/>
            <a:ahLst/>
            <a:cxnLst/>
            <a:rect l="l" t="t" r="r" b="b"/>
            <a:pathLst>
              <a:path w="126683" h="97154">
                <a:moveTo>
                  <a:pt x="0" y="46672"/>
                </a:moveTo>
                <a:lnTo>
                  <a:pt x="46673" y="97154"/>
                </a:lnTo>
                <a:lnTo>
                  <a:pt x="126683" y="0"/>
                </a:lnTo>
              </a:path>
            </a:pathLst>
          </a:custGeom>
          <a:noFill/>
          <a:ln w="2667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17195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H1收集到定制RN需求30+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44817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“搭车”触发初见成效，但尚未传递到研发RDC</a:t>
            </a:r>
          </a:p>
        </p:txBody>
      </p:sp>
      <p:sp>
        <p:nvSpPr>
          <p:cNvPr id="29" name="Oval 28"/>
          <p:cNvSpPr/>
          <p:nvPr/>
        </p:nvSpPr>
        <p:spPr>
          <a:xfrm>
            <a:off x="723900" y="5076825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09625" y="5162550"/>
            <a:ext cx="95250" cy="952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143000" y="505777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iDOP和RDC系统打通（8月中上线）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3340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自动创建ER并传递需求，接续断点</a:t>
            </a:r>
          </a:p>
        </p:txBody>
      </p:sp>
      <p:sp>
        <p:nvSpPr>
          <p:cNvPr id="33" name="Oval 32"/>
          <p:cNvSpPr/>
          <p:nvPr/>
        </p:nvSpPr>
        <p:spPr>
          <a:xfrm>
            <a:off x="723900" y="5962650"/>
            <a:ext cx="266700" cy="2667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09625" y="6048375"/>
            <a:ext cx="95250" cy="952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143000" y="59436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085CC"/>
                </a:solidFill>
                <a:latin typeface="Microsoft YaHei"/>
                <a:ea typeface="Microsoft YaHei"/>
              </a:rPr>
              <a:t>定制RN全流程贯通（预计26年Q3）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6219825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触发→传递→生产→交付端到端闭环</a:t>
            </a:r>
          </a:p>
        </p:txBody>
      </p:sp>
      <p:sp>
        <p:nvSpPr>
          <p:cNvPr id="37" name="Oval 36"/>
          <p:cNvSpPr/>
          <p:nvPr/>
        </p:nvSpPr>
        <p:spPr>
          <a:xfrm>
            <a:off x="4019550" y="1257300"/>
            <a:ext cx="152400" cy="1524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Freeform 37"/>
          <p:cNvSpPr/>
          <p:nvPr/>
        </p:nvSpPr>
        <p:spPr>
          <a:xfrm>
            <a:off x="4061460" y="1306830"/>
            <a:ext cx="72390" cy="55245"/>
          </a:xfrm>
          <a:custGeom>
            <a:avLst/>
            <a:gdLst/>
            <a:ahLst/>
            <a:cxnLst/>
            <a:rect l="l" t="t" r="r" b="b"/>
            <a:pathLst>
              <a:path w="72390" h="55245">
                <a:moveTo>
                  <a:pt x="0" y="26670"/>
                </a:moveTo>
                <a:lnTo>
                  <a:pt x="26670" y="55245"/>
                </a:lnTo>
                <a:lnTo>
                  <a:pt x="72390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9100" y="12382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>
                <a:solidFill>
                  <a:srgbClr val="4F5F6F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40" name="Oval 39"/>
          <p:cNvSpPr/>
          <p:nvPr/>
        </p:nvSpPr>
        <p:spPr>
          <a:xfrm>
            <a:off x="4876800" y="1257300"/>
            <a:ext cx="152400" cy="15240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0085CC"/>
            </a:solidFill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86350" y="1238250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>
                <a:solidFill>
                  <a:srgbClr val="4F5F6F"/>
                </a:solidFill>
                <a:latin typeface="Microsoft YaHei"/>
                <a:ea typeface="Microsoft YaHei"/>
              </a:rPr>
              <a:t>推进中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7000" y="120015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275" b="1">
                <a:solidFill>
                  <a:srgbClr val="0B3A5B"/>
                </a:solidFill>
                <a:latin typeface="Microsoft YaHei"/>
                <a:ea typeface="Microsoft YaHei"/>
              </a:rPr>
              <a:t>三大系统分工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7000" y="1571625"/>
            <a:ext cx="5143500" cy="1428750"/>
          </a:xfrm>
          <a:prstGeom prst="roundRect">
            <a:avLst>
              <a:gd name="adj" fmla="val 6666"/>
            </a:avLst>
          </a:prstGeom>
          <a:solidFill>
            <a:srgbClr val="E2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477000" y="1571625"/>
            <a:ext cx="1238250" cy="1428750"/>
          </a:xfrm>
          <a:prstGeom prst="roundRect">
            <a:avLst>
              <a:gd name="adj" fmla="val 7692"/>
            </a:avLst>
          </a:pr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429500" y="1571625"/>
            <a:ext cx="285750" cy="1428750"/>
          </a:xfrm>
          <a:prstGeom prst="rect">
            <a:avLst/>
          </a:prstGeom>
          <a:solidFill>
            <a:srgbClr val="0FA3A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77000" y="1857375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iDOP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0" y="2352675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需求入口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4800" y="1685925"/>
            <a:ext cx="3524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方案中心·方案模型开发申请时勾选A/B/C三个定制RN需求字段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77000" y="3171825"/>
            <a:ext cx="5143500" cy="1428750"/>
          </a:xfrm>
          <a:prstGeom prst="roundRect">
            <a:avLst>
              <a:gd name="adj" fmla="val 6666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6477000" y="3171825"/>
            <a:ext cx="1238250" cy="1428750"/>
          </a:xfrm>
          <a:prstGeom prst="roundRect">
            <a:avLst>
              <a:gd name="adj" fmla="val 7692"/>
            </a:avLst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429500" y="3171825"/>
            <a:ext cx="285750" cy="142875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77000" y="3457575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RDC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0" y="3952875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需求承接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4800" y="3286125"/>
            <a:ext cx="3524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ER自动创建并同步字段；判断是否定制RN，读配置写入“定制RN作者”；承载文档工作项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77000" y="4772025"/>
            <a:ext cx="5143500" cy="1428750"/>
          </a:xfrm>
          <a:prstGeom prst="roundRect">
            <a:avLst>
              <a:gd name="adj" fmla="val 6666"/>
            </a:avLst>
          </a:prstGeom>
          <a:solidFill>
            <a:srgbClr val="E1ECF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477000" y="4772025"/>
            <a:ext cx="1238250" cy="1428750"/>
          </a:xfrm>
          <a:prstGeom prst="roundRect">
            <a:avLst>
              <a:gd name="adj" fmla="val 7692"/>
            </a:avLst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7429500" y="4772025"/>
            <a:ext cx="285750" cy="1428750"/>
          </a:xfrm>
          <a:prstGeom prst="rect">
            <a:avLst/>
          </a:prstGeom>
          <a:solidFill>
            <a:srgbClr val="005B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477000" y="5057775"/>
            <a:ext cx="1238250" cy="476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</a:rPr>
              <a:t>飞轮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0" y="5553075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</a:rPr>
              <a:t>流程引擎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24800" y="4886325"/>
            <a:ext cx="3524250" cy="1200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60"/>
              </a:lnSpc>
            </a:pPr>
            <a:r>
              <a:rPr sz="1200" b="0">
                <a:solidFill>
                  <a:srgbClr val="1F2D3D"/>
                </a:solidFill>
                <a:latin typeface="Microsoft YaHei"/>
                <a:ea typeface="Microsoft YaHei"/>
              </a:rPr>
              <a:t>创建RDC文档工作项，按任务状态控制状态翻转，可交付时发送邮件通知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成果收益：定制RN需求从“靠人盯”走向“系统转”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1F9D6B"/>
                </a:solidFill>
                <a:latin typeface="Microsoft YaHei"/>
                <a:ea typeface="Microsoft YaHei"/>
              </a:rPr>
              <a:t>04 成果收益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8" name="TextBox 7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12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143000"/>
            <a:ext cx="38100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F9D6B"/>
                </a:solidFill>
                <a:latin typeface="Microsoft YaHei"/>
                <a:ea typeface="Microsoft YaHei"/>
              </a:rPr>
              <a:t>阶段成果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1476375"/>
            <a:ext cx="3810000" cy="1952625"/>
          </a:xfrm>
          <a:prstGeom prst="roundRect">
            <a:avLst>
              <a:gd name="adj" fmla="val 5853"/>
            </a:avLst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" y="1571625"/>
            <a:ext cx="3429000" cy="8572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94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</a:rP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4574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2026年H1通过iDOP收集的定制RN需求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781300"/>
            <a:ext cx="34290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22"/>
              </a:lnSpc>
            </a:pPr>
            <a:r>
              <a:rPr sz="1050" b="0">
                <a:solidFill>
                  <a:srgbClr val="DDF3EA"/>
                </a:solidFill>
                <a:latin typeface="Microsoft YaHei"/>
                <a:ea typeface="Microsoft YaHei"/>
              </a:rPr>
              <a:t>对比此前单独到ZXRDC提交“鲜有提交”，“搭车”策略有效解决了需求触发难题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571875"/>
            <a:ext cx="3810000" cy="838200"/>
          </a:xfrm>
          <a:prstGeom prst="roundRect">
            <a:avLst>
              <a:gd name="adj" fmla="val 11363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23900" y="3705225"/>
            <a:ext cx="228600" cy="2286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Freeform 16"/>
          <p:cNvSpPr/>
          <p:nvPr/>
        </p:nvSpPr>
        <p:spPr>
          <a:xfrm>
            <a:off x="786765" y="3779520"/>
            <a:ext cx="108585" cy="83820"/>
          </a:xfrm>
          <a:custGeom>
            <a:avLst/>
            <a:gdLst/>
            <a:ahLst/>
            <a:cxnLst/>
            <a:rect l="l" t="t" r="r" b="b"/>
            <a:pathLst>
              <a:path w="108585" h="83820">
                <a:moveTo>
                  <a:pt x="0" y="40005"/>
                </a:moveTo>
                <a:lnTo>
                  <a:pt x="40005" y="83820"/>
                </a:lnTo>
                <a:lnTo>
                  <a:pt x="108585" y="0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" y="368617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85"/>
              </a:lnSpc>
            </a:pPr>
            <a:r>
              <a:rPr sz="1237" b="1">
                <a:solidFill>
                  <a:srgbClr val="1F9D6B"/>
                </a:solidFill>
                <a:latin typeface="Microsoft YaHei"/>
                <a:ea typeface="Microsoft YaHei"/>
              </a:rPr>
              <a:t>语言统一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971925"/>
            <a:ext cx="347662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0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国际工服文档团队接纳“定制RN需提需求”的理念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524375"/>
            <a:ext cx="3810000" cy="838200"/>
          </a:xfrm>
          <a:prstGeom prst="roundRect">
            <a:avLst>
              <a:gd name="adj" fmla="val 11363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23900" y="4657725"/>
            <a:ext cx="228600" cy="2286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Freeform 21"/>
          <p:cNvSpPr/>
          <p:nvPr/>
        </p:nvSpPr>
        <p:spPr>
          <a:xfrm>
            <a:off x="786765" y="4732020"/>
            <a:ext cx="108585" cy="83820"/>
          </a:xfrm>
          <a:custGeom>
            <a:avLst/>
            <a:gdLst/>
            <a:ahLst/>
            <a:cxnLst/>
            <a:rect l="l" t="t" r="r" b="b"/>
            <a:pathLst>
              <a:path w="108585" h="83820">
                <a:moveTo>
                  <a:pt x="0" y="40005"/>
                </a:moveTo>
                <a:lnTo>
                  <a:pt x="40005" y="83820"/>
                </a:lnTo>
                <a:lnTo>
                  <a:pt x="108585" y="0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" y="463867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85"/>
              </a:lnSpc>
            </a:pPr>
            <a:r>
              <a:rPr sz="1237" b="1">
                <a:solidFill>
                  <a:srgbClr val="1F9D6B"/>
                </a:solidFill>
                <a:latin typeface="Microsoft YaHei"/>
                <a:ea typeface="Microsoft YaHei"/>
              </a:rPr>
              <a:t>职责明确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924425"/>
            <a:ext cx="347662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0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后方承诺承接定制RN编制，流程和职责已确定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5476875"/>
            <a:ext cx="3810000" cy="838200"/>
          </a:xfrm>
          <a:prstGeom prst="roundRect">
            <a:avLst>
              <a:gd name="adj" fmla="val 11363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23900" y="5610225"/>
            <a:ext cx="228600" cy="2286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Freeform 26"/>
          <p:cNvSpPr/>
          <p:nvPr/>
        </p:nvSpPr>
        <p:spPr>
          <a:xfrm>
            <a:off x="786765" y="5684520"/>
            <a:ext cx="108585" cy="83820"/>
          </a:xfrm>
          <a:custGeom>
            <a:avLst/>
            <a:gdLst/>
            <a:ahLst/>
            <a:cxnLst/>
            <a:rect l="l" t="t" r="r" b="b"/>
            <a:pathLst>
              <a:path w="108585" h="83820">
                <a:moveTo>
                  <a:pt x="0" y="40005"/>
                </a:moveTo>
                <a:lnTo>
                  <a:pt x="40005" y="83820"/>
                </a:lnTo>
                <a:lnTo>
                  <a:pt x="108585" y="0"/>
                </a:lnTo>
              </a:path>
            </a:pathLst>
          </a:custGeom>
          <a:noFill/>
          <a:ln w="2286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" y="559117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85"/>
              </a:lnSpc>
            </a:pPr>
            <a:r>
              <a:rPr sz="1237" b="1">
                <a:solidFill>
                  <a:srgbClr val="1F9D6B"/>
                </a:solidFill>
                <a:latin typeface="Microsoft YaHei"/>
                <a:ea typeface="Microsoft YaHei"/>
              </a:rPr>
              <a:t>质量提效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876925"/>
            <a:ext cx="3476625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0"/>
              </a:lnSpc>
            </a:pPr>
            <a:r>
              <a:rPr sz="1050" b="0">
                <a:solidFill>
                  <a:srgbClr val="1F2D3D"/>
                </a:solidFill>
                <a:latin typeface="Microsoft YaHei"/>
                <a:ea typeface="Microsoft YaHei"/>
              </a:rPr>
              <a:t>机翻+专用词库+拼写检查保障英化质量；通用RN自动生成大幅提效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0" y="11430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F9D6B"/>
                </a:solidFill>
                <a:latin typeface="Microsoft YaHei"/>
                <a:ea typeface="Microsoft YaHei"/>
              </a:rPr>
              <a:t>预期收益：全流程贯通后的改进前后对比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62500" y="1476375"/>
            <a:ext cx="6858000" cy="419100"/>
          </a:xfrm>
          <a:prstGeom prst="roundRect">
            <a:avLst>
              <a:gd name="adj" fmla="val 13636"/>
            </a:avLst>
          </a:prstGeom>
          <a:solidFill>
            <a:srgbClr val="0B3A5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95850" y="1476375"/>
            <a:ext cx="104775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环节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4100" y="1476375"/>
            <a:ext cx="247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改进前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6350" y="1476375"/>
            <a:ext cx="26670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</a:rPr>
              <a:t>改进后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2500" y="1952625"/>
            <a:ext cx="6858000" cy="828675"/>
          </a:xfrm>
          <a:prstGeom prst="roundRect">
            <a:avLst>
              <a:gd name="adj" fmla="val 6896"/>
            </a:avLst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95850" y="1952625"/>
            <a:ext cx="10477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需求触发</a:t>
            </a:r>
          </a:p>
        </p:txBody>
      </p:sp>
      <p:sp>
        <p:nvSpPr>
          <p:cNvPr id="37" name="Oval 36"/>
          <p:cNvSpPr/>
          <p:nvPr/>
        </p:nvSpPr>
        <p:spPr>
          <a:xfrm>
            <a:off x="6096000" y="2271712"/>
            <a:ext cx="190500" cy="190500"/>
          </a:xfrm>
          <a:prstGeom prst="ellipse">
            <a:avLst/>
          </a:prstGeom>
          <a:solidFill>
            <a:srgbClr val="B9C2C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38" name="Connector 37"/>
          <p:cNvCxnSpPr/>
          <p:nvPr/>
        </p:nvCxnSpPr>
        <p:spPr>
          <a:xfrm>
            <a:off x="6155055" y="233076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39" name="Connector 38"/>
          <p:cNvCxnSpPr/>
          <p:nvPr/>
        </p:nvCxnSpPr>
        <p:spPr>
          <a:xfrm flipV="1">
            <a:off x="6155055" y="233076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0" name="TextBox 39"/>
          <p:cNvSpPr txBox="1"/>
          <p:nvPr/>
        </p:nvSpPr>
        <p:spPr>
          <a:xfrm>
            <a:off x="6381750" y="1952625"/>
            <a:ext cx="228600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>
                <a:solidFill>
                  <a:srgbClr val="8A99A8"/>
                </a:solidFill>
                <a:latin typeface="Microsoft YaHei"/>
                <a:ea typeface="Microsoft YaHei"/>
              </a:rPr>
              <a:t>单独到ZXRDC提交，靠人盯人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91550" y="2366962"/>
            <a:ext cx="190500" cy="0"/>
          </a:xfrm>
          <a:prstGeom prst="line">
            <a:avLst/>
          </a:prstGeom>
          <a:ln w="23812">
            <a:solidFill>
              <a:srgbClr val="1F9D6B"/>
            </a:solidFill>
            <a:round/>
            <a:tailEnd type="triangle" w="med" len="med"/>
          </a:ln>
        </p:spPr>
      </p:cxnSp>
      <p:sp>
        <p:nvSpPr>
          <p:cNvPr id="42" name="Oval 41"/>
          <p:cNvSpPr/>
          <p:nvPr/>
        </p:nvSpPr>
        <p:spPr>
          <a:xfrm>
            <a:off x="8896350" y="2271712"/>
            <a:ext cx="190500" cy="190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Freeform 42"/>
          <p:cNvSpPr/>
          <p:nvPr/>
        </p:nvSpPr>
        <p:spPr>
          <a:xfrm>
            <a:off x="8948738" y="2333625"/>
            <a:ext cx="90487" cy="69533"/>
          </a:xfrm>
          <a:custGeom>
            <a:avLst/>
            <a:gdLst/>
            <a:ahLst/>
            <a:cxnLst/>
            <a:rect l="l" t="t" r="r" b="b"/>
            <a:pathLst>
              <a:path w="90487" h="69533">
                <a:moveTo>
                  <a:pt x="0" y="33337"/>
                </a:moveTo>
                <a:lnTo>
                  <a:pt x="33337" y="69533"/>
                </a:lnTo>
                <a:lnTo>
                  <a:pt x="9048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2100" y="1952625"/>
            <a:ext cx="23812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1">
                <a:solidFill>
                  <a:srgbClr val="1F2D3D"/>
                </a:solidFill>
                <a:latin typeface="Microsoft YaHei"/>
                <a:ea typeface="Microsoft YaHei"/>
              </a:rPr>
              <a:t>搭车iDOP升级流程，一次勾选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500" y="2838450"/>
            <a:ext cx="6858000" cy="828675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895850" y="2838450"/>
            <a:ext cx="10477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需求识别</a:t>
            </a:r>
          </a:p>
        </p:txBody>
      </p:sp>
      <p:sp>
        <p:nvSpPr>
          <p:cNvPr id="47" name="Oval 46"/>
          <p:cNvSpPr/>
          <p:nvPr/>
        </p:nvSpPr>
        <p:spPr>
          <a:xfrm>
            <a:off x="6096000" y="3157538"/>
            <a:ext cx="190500" cy="190500"/>
          </a:xfrm>
          <a:prstGeom prst="ellipse">
            <a:avLst/>
          </a:prstGeom>
          <a:solidFill>
            <a:srgbClr val="B9C2C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8" name="Connector 47"/>
          <p:cNvCxnSpPr/>
          <p:nvPr/>
        </p:nvCxnSpPr>
        <p:spPr>
          <a:xfrm>
            <a:off x="6155055" y="3216592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49" name="Connector 48"/>
          <p:cNvCxnSpPr/>
          <p:nvPr/>
        </p:nvCxnSpPr>
        <p:spPr>
          <a:xfrm flipV="1">
            <a:off x="6155055" y="3216592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50" name="TextBox 49"/>
          <p:cNvSpPr txBox="1"/>
          <p:nvPr/>
        </p:nvSpPr>
        <p:spPr>
          <a:xfrm>
            <a:off x="6381750" y="2838450"/>
            <a:ext cx="228600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>
                <a:solidFill>
                  <a:srgbClr val="8A99A8"/>
                </a:solidFill>
                <a:latin typeface="Microsoft YaHei"/>
                <a:ea typeface="Microsoft YaHei"/>
              </a:rPr>
              <a:t>ER提交者非直接干系人，难以识别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591550" y="3252788"/>
            <a:ext cx="190500" cy="0"/>
          </a:xfrm>
          <a:prstGeom prst="line">
            <a:avLst/>
          </a:prstGeom>
          <a:ln w="23812">
            <a:solidFill>
              <a:srgbClr val="1F9D6B"/>
            </a:solidFill>
            <a:round/>
            <a:tailEnd type="triangle" w="med" len="med"/>
          </a:ln>
        </p:spPr>
      </p:cxnSp>
      <p:sp>
        <p:nvSpPr>
          <p:cNvPr id="52" name="Oval 51"/>
          <p:cNvSpPr/>
          <p:nvPr/>
        </p:nvSpPr>
        <p:spPr>
          <a:xfrm>
            <a:off x="8896350" y="3157538"/>
            <a:ext cx="190500" cy="190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Freeform 52"/>
          <p:cNvSpPr/>
          <p:nvPr/>
        </p:nvSpPr>
        <p:spPr>
          <a:xfrm>
            <a:off x="8948738" y="3219450"/>
            <a:ext cx="90487" cy="69532"/>
          </a:xfrm>
          <a:custGeom>
            <a:avLst/>
            <a:gdLst/>
            <a:ahLst/>
            <a:cxnLst/>
            <a:rect l="l" t="t" r="r" b="b"/>
            <a:pathLst>
              <a:path w="90487" h="69532">
                <a:moveTo>
                  <a:pt x="0" y="33338"/>
                </a:moveTo>
                <a:lnTo>
                  <a:pt x="33337" y="69532"/>
                </a:lnTo>
                <a:lnTo>
                  <a:pt x="9048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2100" y="2838450"/>
            <a:ext cx="23812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1">
                <a:solidFill>
                  <a:srgbClr val="1F2D3D"/>
                </a:solidFill>
                <a:latin typeface="Microsoft YaHei"/>
                <a:ea typeface="Microsoft YaHei"/>
              </a:rPr>
              <a:t>交付总工在源头勾选A/B/C字段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2500" y="3724275"/>
            <a:ext cx="6858000" cy="828675"/>
          </a:xfrm>
          <a:prstGeom prst="roundRect">
            <a:avLst>
              <a:gd name="adj" fmla="val 6896"/>
            </a:avLst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895850" y="3724275"/>
            <a:ext cx="10477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需求传递</a:t>
            </a:r>
          </a:p>
        </p:txBody>
      </p:sp>
      <p:sp>
        <p:nvSpPr>
          <p:cNvPr id="57" name="Oval 56"/>
          <p:cNvSpPr/>
          <p:nvPr/>
        </p:nvSpPr>
        <p:spPr>
          <a:xfrm>
            <a:off x="6096000" y="4043362"/>
            <a:ext cx="190500" cy="190500"/>
          </a:xfrm>
          <a:prstGeom prst="ellipse">
            <a:avLst/>
          </a:prstGeom>
          <a:solidFill>
            <a:srgbClr val="B9C2C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58" name="Connector 57"/>
          <p:cNvCxnSpPr/>
          <p:nvPr/>
        </p:nvCxnSpPr>
        <p:spPr>
          <a:xfrm>
            <a:off x="6155055" y="410241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59" name="Connector 58"/>
          <p:cNvCxnSpPr/>
          <p:nvPr/>
        </p:nvCxnSpPr>
        <p:spPr>
          <a:xfrm flipV="1">
            <a:off x="6155055" y="410241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60" name="TextBox 59"/>
          <p:cNvSpPr txBox="1"/>
          <p:nvPr/>
        </p:nvSpPr>
        <p:spPr>
          <a:xfrm>
            <a:off x="6381750" y="3724275"/>
            <a:ext cx="228600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>
                <a:solidFill>
                  <a:srgbClr val="8A99A8"/>
                </a:solidFill>
                <a:latin typeface="Microsoft YaHei"/>
                <a:ea typeface="Microsoft YaHei"/>
              </a:rPr>
              <a:t>iDOP需求无法传递到RDC，断链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591550" y="4138612"/>
            <a:ext cx="190500" cy="0"/>
          </a:xfrm>
          <a:prstGeom prst="line">
            <a:avLst/>
          </a:prstGeom>
          <a:ln w="23812">
            <a:solidFill>
              <a:srgbClr val="1F9D6B"/>
            </a:solidFill>
            <a:round/>
            <a:tailEnd type="triangle" w="med" len="med"/>
          </a:ln>
        </p:spPr>
      </p:cxnSp>
      <p:sp>
        <p:nvSpPr>
          <p:cNvPr id="62" name="Oval 61"/>
          <p:cNvSpPr/>
          <p:nvPr/>
        </p:nvSpPr>
        <p:spPr>
          <a:xfrm>
            <a:off x="8896350" y="4043362"/>
            <a:ext cx="190500" cy="190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Freeform 62"/>
          <p:cNvSpPr/>
          <p:nvPr/>
        </p:nvSpPr>
        <p:spPr>
          <a:xfrm>
            <a:off x="8948738" y="4105275"/>
            <a:ext cx="90487" cy="69533"/>
          </a:xfrm>
          <a:custGeom>
            <a:avLst/>
            <a:gdLst/>
            <a:ahLst/>
            <a:cxnLst/>
            <a:rect l="l" t="t" r="r" b="b"/>
            <a:pathLst>
              <a:path w="90487" h="69533">
                <a:moveTo>
                  <a:pt x="0" y="33337"/>
                </a:moveTo>
                <a:lnTo>
                  <a:pt x="33337" y="69533"/>
                </a:lnTo>
                <a:lnTo>
                  <a:pt x="9048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2100" y="3724275"/>
            <a:ext cx="23812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1">
                <a:solidFill>
                  <a:srgbClr val="1F2D3D"/>
                </a:solidFill>
                <a:latin typeface="Microsoft YaHei"/>
                <a:ea typeface="Microsoft YaHei"/>
              </a:rPr>
              <a:t>系统贯通，自动建单、同步字段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62500" y="4610100"/>
            <a:ext cx="6858000" cy="828675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895850" y="4610100"/>
            <a:ext cx="10477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过程管控</a:t>
            </a:r>
          </a:p>
        </p:txBody>
      </p:sp>
      <p:sp>
        <p:nvSpPr>
          <p:cNvPr id="67" name="Oval 66"/>
          <p:cNvSpPr/>
          <p:nvPr/>
        </p:nvSpPr>
        <p:spPr>
          <a:xfrm>
            <a:off x="6096000" y="4929188"/>
            <a:ext cx="190500" cy="190500"/>
          </a:xfrm>
          <a:prstGeom prst="ellipse">
            <a:avLst/>
          </a:prstGeom>
          <a:solidFill>
            <a:srgbClr val="B9C2C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68" name="Connector 67"/>
          <p:cNvCxnSpPr/>
          <p:nvPr/>
        </p:nvCxnSpPr>
        <p:spPr>
          <a:xfrm>
            <a:off x="6155055" y="4988242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69" name="Connector 68"/>
          <p:cNvCxnSpPr/>
          <p:nvPr/>
        </p:nvCxnSpPr>
        <p:spPr>
          <a:xfrm flipV="1">
            <a:off x="6155055" y="4988242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70" name="TextBox 69"/>
          <p:cNvSpPr txBox="1"/>
          <p:nvPr/>
        </p:nvSpPr>
        <p:spPr>
          <a:xfrm>
            <a:off x="6381750" y="4610100"/>
            <a:ext cx="228600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>
                <a:solidFill>
                  <a:srgbClr val="8A99A8"/>
                </a:solidFill>
                <a:latin typeface="Microsoft YaHei"/>
                <a:ea typeface="Microsoft YaHei"/>
              </a:rPr>
              <a:t>依赖人工跟踪，难以持续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591550" y="5024438"/>
            <a:ext cx="190500" cy="0"/>
          </a:xfrm>
          <a:prstGeom prst="line">
            <a:avLst/>
          </a:prstGeom>
          <a:ln w="23812">
            <a:solidFill>
              <a:srgbClr val="1F9D6B"/>
            </a:solidFill>
            <a:round/>
            <a:tailEnd type="triangle" w="med" len="med"/>
          </a:ln>
        </p:spPr>
      </p:cxnSp>
      <p:sp>
        <p:nvSpPr>
          <p:cNvPr id="72" name="Oval 71"/>
          <p:cNvSpPr/>
          <p:nvPr/>
        </p:nvSpPr>
        <p:spPr>
          <a:xfrm>
            <a:off x="8896350" y="4929188"/>
            <a:ext cx="190500" cy="190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Freeform 72"/>
          <p:cNvSpPr/>
          <p:nvPr/>
        </p:nvSpPr>
        <p:spPr>
          <a:xfrm>
            <a:off x="8948738" y="4991100"/>
            <a:ext cx="90487" cy="69532"/>
          </a:xfrm>
          <a:custGeom>
            <a:avLst/>
            <a:gdLst/>
            <a:ahLst/>
            <a:cxnLst/>
            <a:rect l="l" t="t" r="r" b="b"/>
            <a:pathLst>
              <a:path w="90487" h="69532">
                <a:moveTo>
                  <a:pt x="0" y="33338"/>
                </a:moveTo>
                <a:lnTo>
                  <a:pt x="33337" y="69532"/>
                </a:lnTo>
                <a:lnTo>
                  <a:pt x="9048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2100" y="4610100"/>
            <a:ext cx="23812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1">
                <a:solidFill>
                  <a:srgbClr val="1F2D3D"/>
                </a:solidFill>
                <a:latin typeface="Microsoft YaHei"/>
                <a:ea typeface="Microsoft YaHei"/>
              </a:rPr>
              <a:t>飞轮驱动状态翻转，全程可追溯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62500" y="5495925"/>
            <a:ext cx="6858000" cy="828675"/>
          </a:xfrm>
          <a:prstGeom prst="roundRect">
            <a:avLst>
              <a:gd name="adj" fmla="val 6896"/>
            </a:avLst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895850" y="5495925"/>
            <a:ext cx="10477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交付闭环</a:t>
            </a:r>
          </a:p>
        </p:txBody>
      </p:sp>
      <p:sp>
        <p:nvSpPr>
          <p:cNvPr id="77" name="Oval 76"/>
          <p:cNvSpPr/>
          <p:nvPr/>
        </p:nvSpPr>
        <p:spPr>
          <a:xfrm>
            <a:off x="6096000" y="5815012"/>
            <a:ext cx="190500" cy="190500"/>
          </a:xfrm>
          <a:prstGeom prst="ellipse">
            <a:avLst/>
          </a:prstGeom>
          <a:solidFill>
            <a:srgbClr val="B9C2CB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8" name="Connector 77"/>
          <p:cNvCxnSpPr/>
          <p:nvPr/>
        </p:nvCxnSpPr>
        <p:spPr>
          <a:xfrm>
            <a:off x="6155055" y="587406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79" name="Connector 78"/>
          <p:cNvCxnSpPr/>
          <p:nvPr/>
        </p:nvCxnSpPr>
        <p:spPr>
          <a:xfrm flipV="1">
            <a:off x="6155055" y="5874068"/>
            <a:ext cx="72390" cy="7239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80" name="TextBox 79"/>
          <p:cNvSpPr txBox="1"/>
          <p:nvPr/>
        </p:nvSpPr>
        <p:spPr>
          <a:xfrm>
            <a:off x="6381750" y="5495925"/>
            <a:ext cx="228600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0">
                <a:solidFill>
                  <a:srgbClr val="8A99A8"/>
                </a:solidFill>
                <a:latin typeface="Microsoft YaHei"/>
                <a:ea typeface="Microsoft YaHei"/>
              </a:rPr>
              <a:t>交付结果依赖人工确认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591550" y="5910262"/>
            <a:ext cx="190500" cy="0"/>
          </a:xfrm>
          <a:prstGeom prst="line">
            <a:avLst/>
          </a:prstGeom>
          <a:ln w="23812">
            <a:solidFill>
              <a:srgbClr val="1F9D6B"/>
            </a:solidFill>
            <a:round/>
            <a:tailEnd type="triangle" w="med" len="med"/>
          </a:ln>
        </p:spPr>
      </p:cxnSp>
      <p:sp>
        <p:nvSpPr>
          <p:cNvPr id="82" name="Oval 81"/>
          <p:cNvSpPr/>
          <p:nvPr/>
        </p:nvSpPr>
        <p:spPr>
          <a:xfrm>
            <a:off x="8896350" y="5815012"/>
            <a:ext cx="190500" cy="190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3" name="Freeform 82"/>
          <p:cNvSpPr/>
          <p:nvPr/>
        </p:nvSpPr>
        <p:spPr>
          <a:xfrm>
            <a:off x="8948738" y="5876925"/>
            <a:ext cx="90487" cy="69533"/>
          </a:xfrm>
          <a:custGeom>
            <a:avLst/>
            <a:gdLst/>
            <a:ahLst/>
            <a:cxnLst/>
            <a:rect l="l" t="t" r="r" b="b"/>
            <a:pathLst>
              <a:path w="90487" h="69533">
                <a:moveTo>
                  <a:pt x="0" y="33337"/>
                </a:moveTo>
                <a:lnTo>
                  <a:pt x="33337" y="69533"/>
                </a:lnTo>
                <a:lnTo>
                  <a:pt x="90487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82100" y="5495925"/>
            <a:ext cx="2381250" cy="8286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75"/>
              </a:lnSpc>
            </a:pPr>
            <a:r>
              <a:rPr sz="1125" b="1">
                <a:solidFill>
                  <a:srgbClr val="1F2D3D"/>
                </a:solidFill>
                <a:latin typeface="Microsoft YaHei"/>
                <a:ea typeface="Microsoft YaHei"/>
              </a:rPr>
              <a:t>附件/英化自动校验，邮件通知闭环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71500" y="400050"/>
            <a:ext cx="57150" cy="3429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3429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1">
                <a:solidFill>
                  <a:srgbClr val="0B3A5B"/>
                </a:solidFill>
                <a:latin typeface="Microsoft YaHei"/>
                <a:ea typeface="Microsoft YaHei"/>
              </a:rPr>
              <a:t>未来规划：聚焦内容，从“快”到“又快又好”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87000" y="438150"/>
            <a:ext cx="1333500" cy="285750"/>
          </a:xfrm>
          <a:prstGeom prst="roundRect">
            <a:avLst>
              <a:gd name="adj" fmla="val 50000"/>
            </a:avLst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287000" y="43815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1F9D6B"/>
                </a:solidFill>
                <a:latin typeface="Microsoft YaHei"/>
                <a:ea typeface="Microsoft YaHei"/>
              </a:rPr>
              <a:t>04 成果收益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191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62"/>
              </a:lnSpc>
            </a:pPr>
            <a:r>
              <a:rPr sz="1125" b="0">
                <a:solidFill>
                  <a:srgbClr val="4F5F6F"/>
                </a:solidFill>
                <a:latin typeface="Microsoft YaHei"/>
                <a:ea typeface="Microsoft YaHei"/>
              </a:rPr>
              <a:t>完成定制RN流程改进后，后续RN改进仍聚焦内容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" y="6553200"/>
            <a:ext cx="11049000" cy="0"/>
          </a:xfrm>
          <a:prstGeom prst="line">
            <a:avLst/>
          </a:prstGeom>
          <a:ln w="9525">
            <a:solidFill>
              <a:srgbClr val="D3E2EC"/>
            </a:solidFill>
            <a:round/>
          </a:ln>
        </p:spPr>
      </p:cxnSp>
      <p:sp>
        <p:nvSpPr>
          <p:cNvPr id="9" name="TextBox 8"/>
          <p:cNvSpPr txBox="1"/>
          <p:nvPr/>
        </p:nvSpPr>
        <p:spPr>
          <a:xfrm>
            <a:off x="571500" y="65913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国际定制RN流程改进 ｜ CCN文档团队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0" y="659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5"/>
              </a:lnSpc>
            </a:pPr>
            <a:r>
              <a:rPr sz="825" b="0">
                <a:solidFill>
                  <a:srgbClr val="8A99A8"/>
                </a:solidFill>
                <a:latin typeface="Microsoft YaHei"/>
                <a:ea typeface="Microsoft YaHei"/>
              </a:rPr>
              <a:t>13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714500"/>
            <a:ext cx="4476750" cy="4191000"/>
          </a:xfrm>
          <a:prstGeom prst="rect">
            <a:avLst/>
          </a:prstGeom>
          <a:solidFill>
            <a:srgbClr val="F2F8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1375" y="1714500"/>
            <a:ext cx="2238375" cy="2095500"/>
          </a:xfrm>
          <a:prstGeom prst="rect">
            <a:avLst/>
          </a:prstGeom>
          <a:solidFill>
            <a:srgbClr val="E6F5EE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1143000" y="5905500"/>
            <a:ext cx="4667250" cy="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43000" y="1524000"/>
            <a:ext cx="0" cy="4381500"/>
          </a:xfrm>
          <a:prstGeom prst="line">
            <a:avLst/>
          </a:prstGeom>
          <a:ln w="19050">
            <a:solidFill>
              <a:srgbClr val="4F5F6F"/>
            </a:solidFill>
            <a:round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3714750" y="59817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050"/>
              </a:lnSpc>
            </a:pPr>
            <a:r>
              <a:rPr sz="1050" b="1">
                <a:solidFill>
                  <a:srgbClr val="4F5F6F"/>
                </a:solidFill>
                <a:latin typeface="Microsoft YaHei"/>
                <a:ea typeface="Microsoft YaHei"/>
              </a:rPr>
              <a:t>生产效率（快）→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8250" y="1504950"/>
            <a:ext cx="228600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1">
                <a:solidFill>
                  <a:srgbClr val="4F5F6F"/>
                </a:solidFill>
                <a:latin typeface="Microsoft YaHei"/>
                <a:ea typeface="Microsoft YaHei"/>
              </a:rPr>
              <a:t>↑ 客户可读性（好）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381375" y="1714500"/>
            <a:ext cx="0" cy="4191000"/>
          </a:xfrm>
          <a:prstGeom prst="line">
            <a:avLst/>
          </a:prstGeom>
          <a:ln w="9525">
            <a:solidFill>
              <a:srgbClr val="D3E2EC"/>
            </a:solidFill>
            <a:prstDash val="dash"/>
            <a:round/>
          </a:ln>
        </p:spPr>
      </p:cxnSp>
      <p:cxnSp>
        <p:nvCxnSpPr>
          <p:cNvPr id="18" name="Connector 17"/>
          <p:cNvCxnSpPr/>
          <p:nvPr/>
        </p:nvCxnSpPr>
        <p:spPr>
          <a:xfrm>
            <a:off x="1143000" y="3810000"/>
            <a:ext cx="4476750" cy="0"/>
          </a:xfrm>
          <a:prstGeom prst="line">
            <a:avLst/>
          </a:prstGeom>
          <a:ln w="9525">
            <a:solidFill>
              <a:srgbClr val="D3E2EC"/>
            </a:solidFill>
            <a:prstDash val="dash"/>
            <a:round/>
          </a:ln>
        </p:spPr>
      </p:cxnSp>
      <p:sp>
        <p:nvSpPr>
          <p:cNvPr id="19" name="TextBox 18"/>
          <p:cNvSpPr txBox="1"/>
          <p:nvPr/>
        </p:nvSpPr>
        <p:spPr>
          <a:xfrm>
            <a:off x="3495675" y="1828800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1050" b="1">
                <a:solidFill>
                  <a:srgbClr val="1F9D6B"/>
                </a:solidFill>
                <a:latin typeface="Microsoft YaHei"/>
                <a:ea typeface="Microsoft YaHei"/>
              </a:rPr>
              <a:t>目标区：又快又好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634865" y="2876550"/>
            <a:ext cx="89535" cy="1737360"/>
          </a:xfrm>
          <a:prstGeom prst="line">
            <a:avLst/>
          </a:prstGeom>
          <a:ln w="28575">
            <a:solidFill>
              <a:srgbClr val="1F9D6B"/>
            </a:solidFill>
            <a:prstDash val="dash"/>
            <a:round/>
            <a:tailEnd type="triangle" w="med" len="med"/>
          </a:ln>
        </p:spPr>
      </p:cxnSp>
      <p:sp>
        <p:nvSpPr>
          <p:cNvPr id="21" name="Oval 20"/>
          <p:cNvSpPr/>
          <p:nvPr/>
        </p:nvSpPr>
        <p:spPr>
          <a:xfrm>
            <a:off x="4387215" y="4652010"/>
            <a:ext cx="495300" cy="49530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34615" y="4690110"/>
            <a:ext cx="1666875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366"/>
              </a:lnSpc>
            </a:pPr>
            <a:r>
              <a:rPr sz="1012" b="1">
                <a:solidFill>
                  <a:srgbClr val="1F2D3D"/>
                </a:solidFill>
                <a:latin typeface="Microsoft YaHei"/>
                <a:ea typeface="Microsoft YaHei"/>
              </a:rPr>
              <a:t>当前：通用RN自动生成</a:t>
            </a:r>
          </a:p>
          <a:p>
            <a:pPr algn="r">
              <a:lnSpc>
                <a:spcPts val="1366"/>
              </a:lnSpc>
            </a:pP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快，但偏研发语言</a:t>
            </a:r>
          </a:p>
        </p:txBody>
      </p:sp>
      <p:sp>
        <p:nvSpPr>
          <p:cNvPr id="23" name="Oval 22"/>
          <p:cNvSpPr/>
          <p:nvPr/>
        </p:nvSpPr>
        <p:spPr>
          <a:xfrm>
            <a:off x="4438650" y="2266950"/>
            <a:ext cx="571500" cy="571500"/>
          </a:xfrm>
          <a:prstGeom prst="ellipse">
            <a:avLst/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581275" y="2343150"/>
            <a:ext cx="1762125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366"/>
              </a:lnSpc>
            </a:pPr>
            <a:r>
              <a:rPr sz="1012" b="1">
                <a:solidFill>
                  <a:srgbClr val="1F2D3D"/>
                </a:solidFill>
                <a:latin typeface="Microsoft YaHei"/>
                <a:ea typeface="Microsoft YaHei"/>
              </a:rPr>
              <a:t>目标：定制RN又快又好</a:t>
            </a:r>
          </a:p>
          <a:p>
            <a:pPr algn="r">
              <a:lnSpc>
                <a:spcPts val="1366"/>
              </a:lnSpc>
            </a:pPr>
            <a:r>
              <a:rPr sz="1012" b="0">
                <a:solidFill>
                  <a:srgbClr val="1F2D3D"/>
                </a:solidFill>
                <a:latin typeface="Microsoft YaHei"/>
                <a:ea typeface="Microsoft YaHei"/>
              </a:rPr>
              <a:t>提升客户满意度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1250" y="1238250"/>
            <a:ext cx="5429250" cy="1143000"/>
          </a:xfrm>
          <a:prstGeom prst="roundRect">
            <a:avLst>
              <a:gd name="adj" fmla="val 8333"/>
            </a:avLst>
          </a:prstGeom>
          <a:solidFill>
            <a:srgbClr val="E3F2F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353175" y="1400175"/>
            <a:ext cx="247650" cy="247650"/>
          </a:xfrm>
          <a:prstGeom prst="ellipse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Freeform 26"/>
          <p:cNvSpPr/>
          <p:nvPr/>
        </p:nvSpPr>
        <p:spPr>
          <a:xfrm>
            <a:off x="6420802" y="1480185"/>
            <a:ext cx="118110" cy="90487"/>
          </a:xfrm>
          <a:custGeom>
            <a:avLst/>
            <a:gdLst/>
            <a:ahLst/>
            <a:cxnLst/>
            <a:rect l="l" t="t" r="r" b="b"/>
            <a:pathLst>
              <a:path w="118110" h="90487">
                <a:moveTo>
                  <a:pt x="0" y="43815"/>
                </a:moveTo>
                <a:lnTo>
                  <a:pt x="43816" y="90487"/>
                </a:lnTo>
                <a:lnTo>
                  <a:pt x="118110" y="0"/>
                </a:lnTo>
              </a:path>
            </a:pathLst>
          </a:custGeom>
          <a:noFill/>
          <a:ln w="24765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6550" y="1381125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0085CC"/>
                </a:solidFill>
                <a:latin typeface="Microsoft YaHei"/>
                <a:ea typeface="Microsoft YaHei"/>
              </a:rPr>
              <a:t>现状：效率突飞猛进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762125"/>
            <a:ext cx="50482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5"/>
              </a:lnSpc>
            </a:pPr>
            <a:r>
              <a:rPr sz="1162" b="0">
                <a:solidFill>
                  <a:srgbClr val="1F2D3D"/>
                </a:solidFill>
                <a:latin typeface="Microsoft YaHei"/>
                <a:ea typeface="Microsoft YaHei"/>
              </a:rPr>
              <a:t>通用RN自动生成实践在生产效率上有突飞猛进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250" y="2552700"/>
            <a:ext cx="5429250" cy="1809750"/>
          </a:xfrm>
          <a:prstGeom prst="roundRect">
            <a:avLst>
              <a:gd name="adj" fmla="val 5263"/>
            </a:avLst>
          </a:prstGeom>
          <a:solidFill>
            <a:srgbClr val="FDF2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0" y="26860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E8892B"/>
                </a:solidFill>
                <a:latin typeface="Microsoft YaHei"/>
                <a:ea typeface="Microsoft YaHei"/>
              </a:rPr>
              <a:t>差距：内容仍需提升</a:t>
            </a:r>
          </a:p>
        </p:txBody>
      </p:sp>
      <p:sp>
        <p:nvSpPr>
          <p:cNvPr id="32" name="Oval 31"/>
          <p:cNvSpPr/>
          <p:nvPr/>
        </p:nvSpPr>
        <p:spPr>
          <a:xfrm>
            <a:off x="6391275" y="3152775"/>
            <a:ext cx="247650" cy="247650"/>
          </a:xfrm>
          <a:prstGeom prst="ellipse">
            <a:avLst/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91275" y="3152775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700" y="310515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语言风格偏研发语言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3700" y="335280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对客户的可阅读性不够友好</a:t>
            </a:r>
          </a:p>
        </p:txBody>
      </p:sp>
      <p:sp>
        <p:nvSpPr>
          <p:cNvPr id="36" name="Oval 35"/>
          <p:cNvSpPr/>
          <p:nvPr/>
        </p:nvSpPr>
        <p:spPr>
          <a:xfrm>
            <a:off x="6391275" y="3762375"/>
            <a:ext cx="247650" cy="247650"/>
          </a:xfrm>
          <a:prstGeom prst="ellipse">
            <a:avLst/>
          </a:prstGeom>
          <a:solidFill>
            <a:srgbClr val="E889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91275" y="3762375"/>
            <a:ext cx="2476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05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3700" y="371475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>
                <a:solidFill>
                  <a:srgbClr val="0B3A5B"/>
                </a:solidFill>
                <a:latin typeface="Microsoft YaHei"/>
                <a:ea typeface="Microsoft YaHei"/>
              </a:rPr>
              <a:t>对定制RN的自动生成支撑度不足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3700" y="3962400"/>
            <a:ext cx="46672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4F5F6F"/>
                </a:solidFill>
                <a:latin typeface="Microsoft YaHei"/>
                <a:ea typeface="Microsoft YaHei"/>
              </a:rPr>
              <a:t>定制RN要做到又快又好，还需继续努力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1250" y="4533900"/>
            <a:ext cx="5429250" cy="1847850"/>
          </a:xfrm>
          <a:prstGeom prst="roundRect">
            <a:avLst>
              <a:gd name="adj" fmla="val 5154"/>
            </a:avLst>
          </a:prstGeom>
          <a:solidFill>
            <a:srgbClr val="1F9D6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0" y="46863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方向：聚焦内容，继续努力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67300"/>
            <a:ext cx="504825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7640" indent="-167640">
              <a:lnSpc>
                <a:spcPts val="1739"/>
              </a:lnSpc>
              <a:buClr>
                <a:srgbClr val="FFFFFF"/>
              </a:buClr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让RN内容更贴近客户语言，提升可读性</a:t>
            </a:r>
          </a:p>
          <a:p>
            <a:pPr algn="l" marL="167640" indent="-167640">
              <a:lnSpc>
                <a:spcPts val="1739"/>
              </a:lnSpc>
              <a:spcBef>
                <a:spcPts val="600"/>
              </a:spcBef>
              <a:buClr>
                <a:srgbClr val="FFFFFF"/>
              </a:buClr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增强对定制RN自动生成的支撑</a:t>
            </a:r>
          </a:p>
          <a:p>
            <a:pPr algn="l" marL="167640" indent="-167640">
              <a:lnSpc>
                <a:spcPts val="1739"/>
              </a:lnSpc>
              <a:spcBef>
                <a:spcPts val="600"/>
              </a:spcBef>
              <a:buClr>
                <a:srgbClr val="FFFFFF"/>
              </a:buClr>
              <a:buFont typeface="Arial"/>
              <a:buChar char="•"/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定制RN做到又快又好，提升客户满意度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5C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0" y="2190750"/>
            <a:ext cx="12192000" cy="1047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6000"/>
              </a:lnSpc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29000"/>
            <a:ext cx="762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0" y="3667125"/>
            <a:ext cx="121920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</a:rPr>
              <a:t>让定制RN需求随业务而生，随系统而行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715000"/>
            <a:ext cx="1219200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1200" b="0">
                <a:solidFill>
                  <a:srgbClr val="CFE9F8"/>
                </a:solidFill>
                <a:latin typeface="Microsoft YaHei"/>
                <a:ea typeface="Microsoft YaHei"/>
              </a:rPr>
              <a:t>CCN文档团队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